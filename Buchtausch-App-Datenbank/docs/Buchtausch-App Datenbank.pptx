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8288000" cy="10287000"/>
  <p:notesSz cx="6858000" cy="9144000"/>
  <p:embeddedFontLst>
    <p:embeddedFont>
      <p:font typeface="Canva Sans" panose="020B0604020202020204" charset="0"/>
      <p:regular r:id="rId27"/>
    </p:embeddedFont>
    <p:embeddedFont>
      <p:font typeface="Canva Sans Bold" panose="020B0604020202020204" charset="0"/>
      <p:regular r:id="rId28"/>
    </p:embeddedFont>
    <p:embeddedFont>
      <p:font typeface="Lato Bold" panose="020B0604020202020204" charset="0"/>
      <p:regular r:id="rId29"/>
    </p:embeddedFont>
    <p:embeddedFont>
      <p:font typeface="Open Sans 1" panose="020B0604020202020204" charset="0"/>
      <p:regular r:id="rId30"/>
    </p:embeddedFont>
    <p:embeddedFont>
      <p:font typeface="Open Sans 2" panose="020B0604020202020204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96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1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8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 descr="Abstract Minimalist Lined Repeating Circle Shape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9" descr="Abstract Minimalist Lined Repeating Circle Shape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10" descr="Abstract Minimalist Dots Shapes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11" descr="Abstract Minimalist Dots Shapes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AutoShape 12"/>
          <p:cNvSpPr/>
          <p:nvPr/>
        </p:nvSpPr>
        <p:spPr>
          <a:xfrm rot="-5400000">
            <a:off x="3907558" y="5226917"/>
            <a:ext cx="10463359" cy="0"/>
          </a:xfrm>
          <a:prstGeom prst="line">
            <a:avLst/>
          </a:prstGeom>
          <a:ln w="9525" cap="flat">
            <a:solidFill>
              <a:srgbClr val="EBE2D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3" name="AutoShape 13"/>
          <p:cNvSpPr/>
          <p:nvPr/>
        </p:nvSpPr>
        <p:spPr>
          <a:xfrm rot="-5400000">
            <a:off x="9579289" y="5226917"/>
            <a:ext cx="10463359" cy="0"/>
          </a:xfrm>
          <a:prstGeom prst="line">
            <a:avLst/>
          </a:prstGeom>
          <a:ln w="9525" cap="flat">
            <a:solidFill>
              <a:srgbClr val="EBE2D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grpSp>
        <p:nvGrpSpPr>
          <p:cNvPr id="14" name="Group 14"/>
          <p:cNvGrpSpPr/>
          <p:nvPr/>
        </p:nvGrpSpPr>
        <p:grpSpPr>
          <a:xfrm>
            <a:off x="7122891" y="3628581"/>
            <a:ext cx="8688841" cy="4760663"/>
            <a:chOff x="0" y="0"/>
            <a:chExt cx="11585121" cy="6347551"/>
          </a:xfrm>
        </p:grpSpPr>
        <p:sp>
          <p:nvSpPr>
            <p:cNvPr id="15" name="TextBox 15"/>
            <p:cNvSpPr txBox="1"/>
            <p:nvPr/>
          </p:nvSpPr>
          <p:spPr>
            <a:xfrm>
              <a:off x="0" y="3293015"/>
              <a:ext cx="11585121" cy="30545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993"/>
                </a:lnSpc>
              </a:pPr>
              <a:r>
                <a:rPr lang="en-US" sz="5448" b="1">
                  <a:solidFill>
                    <a:srgbClr val="140C0C"/>
                  </a:solidFill>
                  <a:latin typeface="Lato Bold"/>
                  <a:ea typeface="Lato Bold"/>
                  <a:cs typeface="Lato Bold"/>
                  <a:sym typeface="Lato Bold"/>
                </a:rPr>
                <a:t>12 ENTITÄTEN, 3 TERNÄRE BEZIEHUNGEN, SQL-STRUKTUR, TESTFÄLLE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66675"/>
              <a:ext cx="11585121" cy="2854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8250"/>
                </a:lnSpc>
              </a:pPr>
              <a:r>
                <a:rPr lang="en-US" sz="7500" b="1">
                  <a:solidFill>
                    <a:srgbClr val="140C0C"/>
                  </a:solidFill>
                  <a:latin typeface="Lato Bold"/>
                  <a:ea typeface="Lato Bold"/>
                  <a:cs typeface="Lato Bold"/>
                  <a:sym typeface="Lato Bold"/>
                </a:rPr>
                <a:t>BUCHTAUSCH-APP DATENBANK</a:t>
              </a:r>
            </a:p>
          </p:txBody>
        </p:sp>
      </p:grpSp>
      <p:sp>
        <p:nvSpPr>
          <p:cNvPr id="17" name="Freeform 17"/>
          <p:cNvSpPr/>
          <p:nvPr/>
        </p:nvSpPr>
        <p:spPr>
          <a:xfrm flipH="1" flipV="1">
            <a:off x="2105417" y="3797506"/>
            <a:ext cx="4594124" cy="3792240"/>
          </a:xfrm>
          <a:custGeom>
            <a:avLst/>
            <a:gdLst/>
            <a:ahLst/>
            <a:cxnLst/>
            <a:rect l="l" t="t" r="r" b="b"/>
            <a:pathLst>
              <a:path w="4594124" h="3792240">
                <a:moveTo>
                  <a:pt x="4594124" y="3792241"/>
                </a:moveTo>
                <a:lnTo>
                  <a:pt x="0" y="3792241"/>
                </a:lnTo>
                <a:lnTo>
                  <a:pt x="0" y="0"/>
                </a:lnTo>
                <a:lnTo>
                  <a:pt x="4594124" y="0"/>
                </a:lnTo>
                <a:lnTo>
                  <a:pt x="4594124" y="379224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8" name="TextBox 18"/>
          <p:cNvSpPr txBox="1"/>
          <p:nvPr/>
        </p:nvSpPr>
        <p:spPr>
          <a:xfrm>
            <a:off x="1028700" y="580486"/>
            <a:ext cx="3904601" cy="352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72"/>
              </a:lnSpc>
            </a:pPr>
            <a:r>
              <a:rPr lang="en-US" sz="1459">
                <a:solidFill>
                  <a:srgbClr val="140C0C"/>
                </a:solidFill>
                <a:latin typeface="Open Sans 2"/>
                <a:ea typeface="Open Sans 2"/>
                <a:cs typeface="Open Sans 2"/>
                <a:sym typeface="Open Sans 2"/>
              </a:rPr>
              <a:t>DLBDSPBDM01_D – IU INTERNATIONALE HOCHSCHULE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 descr="Abstract Minimalist Lined Repeating Circle Shape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Freeform 6" descr="Abstract Minimalist Lined Repeating Circle Shape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Freeform 7" descr="Abstract Minimalist Dots Shapes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8" descr="Abstract Minimalist Dots Shapes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grpSp>
        <p:nvGrpSpPr>
          <p:cNvPr id="9" name="Group 9"/>
          <p:cNvGrpSpPr/>
          <p:nvPr/>
        </p:nvGrpSpPr>
        <p:grpSpPr>
          <a:xfrm>
            <a:off x="8992411" y="2363810"/>
            <a:ext cx="7261733" cy="5716996"/>
            <a:chOff x="0" y="0"/>
            <a:chExt cx="3730237" cy="293673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730237" cy="2936730"/>
            </a:xfrm>
            <a:custGeom>
              <a:avLst/>
              <a:gdLst/>
              <a:ahLst/>
              <a:cxnLst/>
              <a:rect l="l" t="t" r="r" b="b"/>
              <a:pathLst>
                <a:path w="3730237" h="2936730">
                  <a:moveTo>
                    <a:pt x="0" y="0"/>
                  </a:moveTo>
                  <a:lnTo>
                    <a:pt x="0" y="2936730"/>
                  </a:lnTo>
                  <a:lnTo>
                    <a:pt x="3730237" y="2936730"/>
                  </a:lnTo>
                  <a:lnTo>
                    <a:pt x="3730237" y="0"/>
                  </a:lnTo>
                  <a:lnTo>
                    <a:pt x="0" y="0"/>
                  </a:lnTo>
                  <a:close/>
                  <a:moveTo>
                    <a:pt x="3669277" y="2875770"/>
                  </a:moveTo>
                  <a:lnTo>
                    <a:pt x="59690" y="2875770"/>
                  </a:lnTo>
                  <a:lnTo>
                    <a:pt x="59690" y="59690"/>
                  </a:lnTo>
                  <a:lnTo>
                    <a:pt x="3669277" y="59690"/>
                  </a:lnTo>
                  <a:lnTo>
                    <a:pt x="3669277" y="287577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de-DE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8700" y="1500231"/>
            <a:ext cx="5878448" cy="6958782"/>
            <a:chOff x="0" y="0"/>
            <a:chExt cx="7837930" cy="9278375"/>
          </a:xfrm>
        </p:grpSpPr>
        <p:sp>
          <p:nvSpPr>
            <p:cNvPr id="14" name="TextBox 14"/>
            <p:cNvSpPr txBox="1"/>
            <p:nvPr/>
          </p:nvSpPr>
          <p:spPr>
            <a:xfrm>
              <a:off x="0" y="0"/>
              <a:ext cx="7837930" cy="1460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640"/>
                </a:lnSpc>
              </a:pPr>
              <a:r>
                <a:rPr lang="en-US" sz="7200" b="1">
                  <a:solidFill>
                    <a:srgbClr val="140C0C"/>
                  </a:solidFill>
                  <a:latin typeface="Lato Bold"/>
                  <a:ea typeface="Lato Bold"/>
                  <a:cs typeface="Lato Bold"/>
                  <a:sym typeface="Lato Bold"/>
                </a:rPr>
                <a:t>AGENDA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750186"/>
              <a:ext cx="7837930" cy="75281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123"/>
                </a:lnSpc>
              </a:pPr>
              <a:r>
                <a:rPr lang="en-US" sz="3171">
                  <a:solidFill>
                    <a:srgbClr val="140C0C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Datenbank-Überblick &amp; ER-Modell</a:t>
              </a:r>
            </a:p>
            <a:p>
              <a:pPr marL="0" lvl="0" indent="0" algn="ctr">
                <a:lnSpc>
                  <a:spcPts val="4123"/>
                </a:lnSpc>
              </a:pPr>
              <a:endParaRPr lang="en-US" sz="3171">
                <a:solidFill>
                  <a:srgbClr val="140C0C"/>
                </a:solidFill>
                <a:latin typeface="Open Sans 2"/>
                <a:ea typeface="Open Sans 2"/>
                <a:cs typeface="Open Sans 2"/>
                <a:sym typeface="Open Sans 2"/>
              </a:endParaRPr>
            </a:p>
            <a:p>
              <a:pPr marL="0" lvl="0" indent="0" algn="ctr">
                <a:lnSpc>
                  <a:spcPts val="4123"/>
                </a:lnSpc>
              </a:pPr>
              <a:r>
                <a:rPr lang="en-US" sz="3171">
                  <a:solidFill>
                    <a:srgbClr val="140C0C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Tabellen im Detail (12 Entitäten)</a:t>
              </a:r>
            </a:p>
            <a:p>
              <a:pPr marL="0" lvl="0" indent="0" algn="ctr">
                <a:lnSpc>
                  <a:spcPts val="4123"/>
                </a:lnSpc>
              </a:pPr>
              <a:endParaRPr lang="en-US" sz="3171">
                <a:solidFill>
                  <a:srgbClr val="140C0C"/>
                </a:solidFill>
                <a:latin typeface="Open Sans 2"/>
                <a:ea typeface="Open Sans 2"/>
                <a:cs typeface="Open Sans 2"/>
                <a:sym typeface="Open Sans 2"/>
              </a:endParaRPr>
            </a:p>
            <a:p>
              <a:pPr marL="0" lvl="0" indent="0" algn="ctr">
                <a:lnSpc>
                  <a:spcPts val="4123"/>
                </a:lnSpc>
              </a:pPr>
              <a:r>
                <a:rPr lang="en-US" sz="3171">
                  <a:solidFill>
                    <a:srgbClr val="140C0C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Ternäre Beziehungen (3 Stück)</a:t>
              </a:r>
            </a:p>
            <a:p>
              <a:pPr marL="0" lvl="0" indent="0" algn="ctr">
                <a:lnSpc>
                  <a:spcPts val="4123"/>
                </a:lnSpc>
              </a:pPr>
              <a:endParaRPr lang="en-US" sz="3171">
                <a:solidFill>
                  <a:srgbClr val="140C0C"/>
                </a:solidFill>
                <a:latin typeface="Open Sans 2"/>
                <a:ea typeface="Open Sans 2"/>
                <a:cs typeface="Open Sans 2"/>
                <a:sym typeface="Open Sans 2"/>
              </a:endParaRPr>
            </a:p>
            <a:p>
              <a:pPr marL="0" lvl="0" indent="0" algn="ctr">
                <a:lnSpc>
                  <a:spcPts val="4123"/>
                </a:lnSpc>
              </a:pPr>
              <a:r>
                <a:rPr lang="en-US" sz="3171">
                  <a:solidFill>
                    <a:srgbClr val="140C0C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Testfälle &amp; Ergebnisse</a:t>
              </a:r>
            </a:p>
            <a:p>
              <a:pPr marL="0" lvl="0" indent="0" algn="ctr">
                <a:lnSpc>
                  <a:spcPts val="4123"/>
                </a:lnSpc>
              </a:pPr>
              <a:endParaRPr lang="en-US" sz="3171">
                <a:solidFill>
                  <a:srgbClr val="140C0C"/>
                </a:solidFill>
                <a:latin typeface="Open Sans 2"/>
                <a:ea typeface="Open Sans 2"/>
                <a:cs typeface="Open Sans 2"/>
                <a:sym typeface="Open Sans 2"/>
              </a:endParaRPr>
            </a:p>
            <a:p>
              <a:pPr marL="0" lvl="0" indent="0" algn="ctr">
                <a:lnSpc>
                  <a:spcPts val="4123"/>
                </a:lnSpc>
              </a:pPr>
              <a:r>
                <a:rPr lang="en-US" sz="3171">
                  <a:solidFill>
                    <a:srgbClr val="140C0C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Zusammenfassung &amp; Ausblick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6021942" y="9072914"/>
            <a:ext cx="1237358" cy="61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94"/>
              </a:lnSpc>
            </a:pPr>
            <a:r>
              <a:rPr lang="en-US" sz="3638">
                <a:solidFill>
                  <a:srgbClr val="140C0C"/>
                </a:solidFill>
                <a:latin typeface="Open Sans 2"/>
                <a:ea typeface="Open Sans 2"/>
                <a:cs typeface="Open Sans 2"/>
                <a:sym typeface="Open Sans 2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645386"/>
            <a:ext cx="3904601" cy="232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44"/>
              </a:lnSpc>
            </a:pPr>
            <a:r>
              <a:rPr lang="en-US" sz="1855" spc="-59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IU INTERNATIONALE HOCHSCHULE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9549065"/>
            <a:ext cx="14648114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3" name="AutoShape 3"/>
          <p:cNvSpPr/>
          <p:nvPr/>
        </p:nvSpPr>
        <p:spPr>
          <a:xfrm>
            <a:off x="4933301" y="737935"/>
            <a:ext cx="12325999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Box 4"/>
          <p:cNvSpPr txBox="1"/>
          <p:nvPr/>
        </p:nvSpPr>
        <p:spPr>
          <a:xfrm>
            <a:off x="1028700" y="2295019"/>
            <a:ext cx="7141925" cy="837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43"/>
              </a:lnSpc>
            </a:pPr>
            <a:r>
              <a:rPr lang="en-US" sz="4887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ER-MODELL ÜBERSICHT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4051750"/>
            <a:ext cx="6829425" cy="3845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68"/>
              </a:lnSpc>
            </a:pPr>
            <a:r>
              <a:rPr lang="en-US" sz="3120" spc="-99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Darstellung des vollständigen Entity-Relationship-Modells mit allen 12 Entitäten und 3 ternären Beziehungen. Die Kardinalitäten (1:N, M:N, ternär) verdeutlichen die komplexen Datenbeziehungen der Buchtausch-Plattform.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7858125" y="4133261"/>
            <a:ext cx="9418353" cy="3007186"/>
            <a:chOff x="0" y="0"/>
            <a:chExt cx="1302133" cy="4157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02133" cy="415758"/>
            </a:xfrm>
            <a:custGeom>
              <a:avLst/>
              <a:gdLst/>
              <a:ahLst/>
              <a:cxnLst/>
              <a:rect l="l" t="t" r="r" b="b"/>
              <a:pathLst>
                <a:path w="1302133" h="415758">
                  <a:moveTo>
                    <a:pt x="0" y="0"/>
                  </a:moveTo>
                  <a:lnTo>
                    <a:pt x="1302133" y="0"/>
                  </a:lnTo>
                  <a:lnTo>
                    <a:pt x="1302133" y="415758"/>
                  </a:lnTo>
                  <a:lnTo>
                    <a:pt x="0" y="415758"/>
                  </a:lnTo>
                  <a:close/>
                </a:path>
              </a:pathLst>
            </a:custGeom>
            <a:blipFill>
              <a:blip r:embed="rId2"/>
              <a:stretch>
                <a:fillRect t="-1872" b="-1872"/>
              </a:stretch>
            </a:blip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021942" y="9063389"/>
            <a:ext cx="1237358" cy="678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43"/>
              </a:lnSpc>
            </a:pPr>
            <a:r>
              <a:rPr lang="en-US" sz="3959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03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633156"/>
            <a:ext cx="3904601" cy="257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98"/>
              </a:lnSpc>
            </a:pPr>
            <a:r>
              <a:rPr lang="en-US" sz="2019" b="1" spc="-64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BUCHTAUSCH-APP DATENBANK</a:t>
            </a:r>
          </a:p>
        </p:txBody>
      </p:sp>
      <p:sp>
        <p:nvSpPr>
          <p:cNvPr id="10" name="Freeform 10"/>
          <p:cNvSpPr/>
          <p:nvPr/>
        </p:nvSpPr>
        <p:spPr>
          <a:xfrm>
            <a:off x="17588978" y="4303884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1" y="0"/>
                </a:lnTo>
                <a:lnTo>
                  <a:pt x="2546231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11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 descr="Abstract Minimalist Lined Repeating Circle Shape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9" descr="Abstract Minimalist Lined Repeating Circle Shape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10" descr="Abstract Minimalist Dots Shapes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11" descr="Abstract Minimalist Dots Shapes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grpSp>
        <p:nvGrpSpPr>
          <p:cNvPr id="12" name="Group 12"/>
          <p:cNvGrpSpPr/>
          <p:nvPr/>
        </p:nvGrpSpPr>
        <p:grpSpPr>
          <a:xfrm>
            <a:off x="7970324" y="1151971"/>
            <a:ext cx="9040494" cy="7983059"/>
            <a:chOff x="0" y="0"/>
            <a:chExt cx="12053992" cy="10644078"/>
          </a:xfrm>
        </p:grpSpPr>
        <p:sp>
          <p:nvSpPr>
            <p:cNvPr id="13" name="TextBox 13"/>
            <p:cNvSpPr txBox="1"/>
            <p:nvPr/>
          </p:nvSpPr>
          <p:spPr>
            <a:xfrm>
              <a:off x="0" y="1718036"/>
              <a:ext cx="10607073" cy="89260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70"/>
                </a:lnSpc>
              </a:pPr>
              <a:r>
                <a:rPr lang="en-US" sz="2746" spc="-87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CREATE TABLE nutzer (</a:t>
              </a:r>
            </a:p>
            <a:p>
              <a:pPr marL="0" lvl="0" indent="0" algn="l">
                <a:lnSpc>
                  <a:spcPts val="3570"/>
                </a:lnSpc>
              </a:pPr>
              <a:r>
                <a:rPr lang="en-US" sz="2746" spc="-87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nutzer_id SERIAL PRIMARY KEY,</a:t>
              </a:r>
            </a:p>
            <a:p>
              <a:pPr marL="0" lvl="0" indent="0" algn="l">
                <a:lnSpc>
                  <a:spcPts val="3570"/>
                </a:lnSpc>
              </a:pPr>
              <a:r>
                <a:rPr lang="en-US" sz="2746" spc="-87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email VARCHAR(255) UNIQUE NOT NULL,</a:t>
              </a:r>
            </a:p>
            <a:p>
              <a:pPr marL="0" lvl="0" indent="0" algn="l">
                <a:lnSpc>
                  <a:spcPts val="3570"/>
                </a:lnSpc>
              </a:pPr>
              <a:r>
                <a:rPr lang="en-US" sz="2746" spc="-87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passwort_hash VARCHAR(255) NOT NULL,</a:t>
              </a:r>
            </a:p>
            <a:p>
              <a:pPr marL="0" lvl="0" indent="0" algn="l">
                <a:lnSpc>
                  <a:spcPts val="3570"/>
                </a:lnSpc>
              </a:pPr>
              <a:r>
                <a:rPr lang="en-US" sz="2746" spc="-87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vorname VARCHAR(100) NOT NULL,</a:t>
              </a:r>
            </a:p>
            <a:p>
              <a:pPr marL="0" lvl="0" indent="0" algn="l">
                <a:lnSpc>
                  <a:spcPts val="3570"/>
                </a:lnSpc>
              </a:pPr>
              <a:r>
                <a:rPr lang="en-US" sz="2746" spc="-87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nachname VARCHAR(100) NOT NULL,</a:t>
              </a:r>
            </a:p>
            <a:p>
              <a:pPr marL="0" lvl="0" indent="0" algn="l">
                <a:lnSpc>
                  <a:spcPts val="3570"/>
                </a:lnSpc>
              </a:pPr>
              <a:r>
                <a:rPr lang="en-US" sz="2746" spc="-87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adresse TEXT,</a:t>
              </a:r>
            </a:p>
            <a:p>
              <a:pPr marL="0" lvl="0" indent="0" algn="l">
                <a:lnSpc>
                  <a:spcPts val="3570"/>
                </a:lnSpc>
              </a:pPr>
              <a:r>
                <a:rPr lang="en-US" sz="2746" spc="-87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telefon VARCHAR(20),</a:t>
              </a:r>
            </a:p>
            <a:p>
              <a:pPr marL="0" lvl="0" indent="0" algn="l">
                <a:lnSpc>
                  <a:spcPts val="3570"/>
                </a:lnSpc>
              </a:pPr>
              <a:r>
                <a:rPr lang="en-US" sz="2746" spc="-87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registrierungsdatum DATE DEFAULT CURRENT_DATE,</a:t>
              </a:r>
            </a:p>
            <a:p>
              <a:pPr marL="0" lvl="0" indent="0" algn="l">
                <a:lnSpc>
                  <a:spcPts val="3570"/>
                </a:lnSpc>
              </a:pPr>
              <a:r>
                <a:rPr lang="en-US" sz="2746" spc="-87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ist_aktiv BOOLEAN DEFAULT TRUE</a:t>
              </a:r>
            </a:p>
            <a:p>
              <a:pPr marL="0" lvl="0" indent="0" algn="l">
                <a:lnSpc>
                  <a:spcPts val="3570"/>
                </a:lnSpc>
              </a:pPr>
              <a:r>
                <a:rPr lang="en-US" sz="2746" spc="-87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);</a:t>
              </a:r>
            </a:p>
            <a:p>
              <a:pPr marL="0" lvl="0" indent="0" algn="l">
                <a:lnSpc>
                  <a:spcPts val="3570"/>
                </a:lnSpc>
              </a:pPr>
              <a:r>
                <a:rPr lang="en-US" sz="2746" spc="-87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Besonderheiten: E-Mail-Validierung, aktiver Status</a:t>
              </a:r>
            </a:p>
            <a:p>
              <a:pPr marL="0" lvl="0" indent="0" algn="l">
                <a:lnSpc>
                  <a:spcPts val="3570"/>
                </a:lnSpc>
              </a:pPr>
              <a:r>
                <a:rPr lang="en-US" sz="2746" spc="-87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Rolle: Benutzer der Plattform, besitzt Exemplare, tätigt Ausleihen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2053992" cy="8466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199"/>
                </a:lnSpc>
              </a:pPr>
              <a:r>
                <a:rPr lang="en-US" sz="3999" b="1">
                  <a:solidFill>
                    <a:srgbClr val="140C0C"/>
                  </a:solidFill>
                  <a:latin typeface="Lato Bold"/>
                  <a:ea typeface="Lato Bold"/>
                  <a:cs typeface="Lato Bold"/>
                  <a:sym typeface="Lato Bold"/>
                </a:rPr>
                <a:t>ENTITÄT NUTZER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1567077" y="1608026"/>
            <a:ext cx="5039658" cy="7070949"/>
          </a:xfrm>
          <a:custGeom>
            <a:avLst/>
            <a:gdLst/>
            <a:ahLst/>
            <a:cxnLst/>
            <a:rect l="l" t="t" r="r" b="b"/>
            <a:pathLst>
              <a:path w="5039658" h="7070949">
                <a:moveTo>
                  <a:pt x="0" y="0"/>
                </a:moveTo>
                <a:lnTo>
                  <a:pt x="5039658" y="0"/>
                </a:lnTo>
                <a:lnTo>
                  <a:pt x="5039658" y="7070948"/>
                </a:lnTo>
                <a:lnTo>
                  <a:pt x="0" y="7070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TextBox 16"/>
          <p:cNvSpPr txBox="1"/>
          <p:nvPr/>
        </p:nvSpPr>
        <p:spPr>
          <a:xfrm>
            <a:off x="16021942" y="9063389"/>
            <a:ext cx="1237358" cy="670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43"/>
              </a:lnSpc>
            </a:pPr>
            <a:r>
              <a:rPr lang="en-US" sz="3959" b="1" spc="-126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633156"/>
            <a:ext cx="3904601" cy="257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98"/>
              </a:lnSpc>
            </a:pPr>
            <a:r>
              <a:rPr lang="en-US" sz="2019" b="1" spc="-64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BUCHTAUSCH-APP DATENBANK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 descr="Abstract Minimalist Lined Repeating Circle Shape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9" descr="Abstract Minimalist Lined Repeating Circle Shape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10" descr="Abstract Minimalist Dots Shapes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11" descr="Abstract Minimalist Dots Shapes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grpSp>
        <p:nvGrpSpPr>
          <p:cNvPr id="12" name="Group 12"/>
          <p:cNvGrpSpPr/>
          <p:nvPr/>
        </p:nvGrpSpPr>
        <p:grpSpPr>
          <a:xfrm>
            <a:off x="3396193" y="1398237"/>
            <a:ext cx="12741423" cy="7490526"/>
            <a:chOff x="0" y="0"/>
            <a:chExt cx="16988563" cy="9987368"/>
          </a:xfrm>
        </p:grpSpPr>
        <p:sp>
          <p:nvSpPr>
            <p:cNvPr id="13" name="TextBox 13"/>
            <p:cNvSpPr txBox="1"/>
            <p:nvPr/>
          </p:nvSpPr>
          <p:spPr>
            <a:xfrm>
              <a:off x="0" y="2760646"/>
              <a:ext cx="16988563" cy="72267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  <a:r>
                <a:rPr lang="en-US" sz="2800" spc="-89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CREATE TABLE verlag (</a:t>
              </a:r>
            </a:p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  <a:r>
                <a:rPr lang="en-US" sz="2800" spc="-89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verlag_id SERIAL PRIMARY KEY,</a:t>
              </a:r>
            </a:p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  <a:r>
                <a:rPr lang="en-US" sz="2800" spc="-89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name VARCHAR(200) UNIQUE NOT NULL,</a:t>
              </a:r>
            </a:p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  <a:r>
                <a:rPr lang="en-US" sz="2800" spc="-89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ort VARCHAR(100),</a:t>
              </a:r>
            </a:p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  <a:r>
                <a:rPr lang="en-US" sz="2800" spc="-89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website VARCHAR(255),</a:t>
              </a:r>
            </a:p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  <a:r>
                <a:rPr lang="en-US" sz="2800" spc="-89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email VARCHAR(150),</a:t>
              </a:r>
            </a:p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  <a:r>
                <a:rPr lang="en-US" sz="2800" spc="-89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telefon VARCHAR(30),</a:t>
              </a:r>
            </a:p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  <a:r>
                <a:rPr lang="en-US" sz="2800" spc="-89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gruendungsjahr INTEGER CHECK (gruendungsjahr &gt;= 1400)</a:t>
              </a:r>
            </a:p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  <a:r>
                <a:rPr lang="en-US" sz="2800" spc="-89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);</a:t>
              </a:r>
            </a:p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  <a:r>
                <a:rPr lang="en-US" sz="2800" spc="-89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Besonderheit: Historische Prüfung – Gründungsjahr muss ab 1400 liegen.</a:t>
              </a:r>
            </a:p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  <a:r>
                <a:rPr lang="en-US" sz="2800" spc="-89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Rolle: Speichert Verlagsinformationen für die Zuordnung zu Büchern.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80975"/>
              <a:ext cx="16988563" cy="1740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499"/>
                </a:lnSpc>
              </a:pPr>
              <a:r>
                <a:rPr lang="en-US" sz="9499" b="1">
                  <a:solidFill>
                    <a:srgbClr val="140C0C"/>
                  </a:solidFill>
                  <a:latin typeface="Lato Bold"/>
                  <a:ea typeface="Lato Bold"/>
                  <a:cs typeface="Lato Bold"/>
                  <a:sym typeface="Lato Bold"/>
                </a:rPr>
                <a:t>ENTITÄT VERLAG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1266626" y="3777249"/>
            <a:ext cx="1367991" cy="2732501"/>
          </a:xfrm>
          <a:custGeom>
            <a:avLst/>
            <a:gdLst/>
            <a:ahLst/>
            <a:cxnLst/>
            <a:rect l="l" t="t" r="r" b="b"/>
            <a:pathLst>
              <a:path w="1367991" h="2732501">
                <a:moveTo>
                  <a:pt x="0" y="0"/>
                </a:moveTo>
                <a:lnTo>
                  <a:pt x="1367991" y="0"/>
                </a:lnTo>
                <a:lnTo>
                  <a:pt x="1367991" y="2732502"/>
                </a:lnTo>
                <a:lnTo>
                  <a:pt x="0" y="27325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TextBox 16"/>
          <p:cNvSpPr txBox="1"/>
          <p:nvPr/>
        </p:nvSpPr>
        <p:spPr>
          <a:xfrm>
            <a:off x="16021942" y="9063389"/>
            <a:ext cx="1237358" cy="670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43"/>
              </a:lnSpc>
            </a:pPr>
            <a:r>
              <a:rPr lang="en-US" sz="3959" b="1" spc="-126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05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633156"/>
            <a:ext cx="3904601" cy="257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98"/>
              </a:lnSpc>
            </a:pPr>
            <a:r>
              <a:rPr lang="en-US" sz="2019" b="1" spc="-64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BUCHTAUSCH-APP DATENBANK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 descr="Abstract Minimalist Lined Repeating Circle Shape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9" descr="Abstract Minimalist Lined Repeating Circle Shape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10" descr="Abstract Minimalist Dots Shapes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11" descr="Abstract Minimalist Dots Shapes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TextBox 12"/>
          <p:cNvSpPr txBox="1"/>
          <p:nvPr/>
        </p:nvSpPr>
        <p:spPr>
          <a:xfrm>
            <a:off x="2157270" y="1581742"/>
            <a:ext cx="13738322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</a:pPr>
            <a:r>
              <a:rPr lang="en-US" sz="7500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ENTITÄT AUTOR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225263" y="4924425"/>
            <a:ext cx="9670328" cy="4287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08"/>
              </a:lnSpc>
              <a:spcBef>
                <a:spcPct val="0"/>
              </a:spcBef>
            </a:pPr>
            <a:r>
              <a:rPr lang="en-US" sz="2220" spc="-7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CREATE TABLE autor (</a:t>
            </a:r>
          </a:p>
          <a:p>
            <a:pPr marL="0" lvl="0" indent="0" algn="l">
              <a:lnSpc>
                <a:spcPts val="3108"/>
              </a:lnSpc>
              <a:spcBef>
                <a:spcPct val="0"/>
              </a:spcBef>
            </a:pPr>
            <a:r>
              <a:rPr lang="en-US" sz="2220" spc="-7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autor_id SERIAL PRIMARY KEY,</a:t>
            </a:r>
          </a:p>
          <a:p>
            <a:pPr marL="0" lvl="0" indent="0" algn="l">
              <a:lnSpc>
                <a:spcPts val="3108"/>
              </a:lnSpc>
              <a:spcBef>
                <a:spcPct val="0"/>
              </a:spcBef>
            </a:pPr>
            <a:r>
              <a:rPr lang="en-US" sz="2220" spc="-7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vorname VARCHAR(100) NOT NULL,</a:t>
            </a:r>
          </a:p>
          <a:p>
            <a:pPr marL="0" lvl="0" indent="0" algn="l">
              <a:lnSpc>
                <a:spcPts val="3108"/>
              </a:lnSpc>
              <a:spcBef>
                <a:spcPct val="0"/>
              </a:spcBef>
            </a:pPr>
            <a:r>
              <a:rPr lang="en-US" sz="2220" spc="-7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nachname VARCHAR(100) NOT NULL,</a:t>
            </a:r>
          </a:p>
          <a:p>
            <a:pPr marL="0" lvl="0" indent="0" algn="l">
              <a:lnSpc>
                <a:spcPts val="3108"/>
              </a:lnSpc>
              <a:spcBef>
                <a:spcPct val="0"/>
              </a:spcBef>
            </a:pPr>
            <a:r>
              <a:rPr lang="en-US" sz="2220" spc="-7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geburtsdatum DATE CHECK (geburtsdatum &lt;= CURRENT_DATE),</a:t>
            </a:r>
          </a:p>
          <a:p>
            <a:pPr marL="0" lvl="0" indent="0" algn="l">
              <a:lnSpc>
                <a:spcPts val="3108"/>
              </a:lnSpc>
              <a:spcBef>
                <a:spcPct val="0"/>
              </a:spcBef>
            </a:pPr>
            <a:r>
              <a:rPr lang="en-US" sz="2220" spc="-7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nationalitaet VARCHAR(50),</a:t>
            </a:r>
          </a:p>
          <a:p>
            <a:pPr marL="0" lvl="0" indent="0" algn="l">
              <a:lnSpc>
                <a:spcPts val="3108"/>
              </a:lnSpc>
              <a:spcBef>
                <a:spcPct val="0"/>
              </a:spcBef>
            </a:pPr>
            <a:r>
              <a:rPr lang="en-US" sz="2220" spc="-7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biografie TEXT,</a:t>
            </a:r>
          </a:p>
          <a:p>
            <a:pPr marL="0" lvl="0" indent="0" algn="l">
              <a:lnSpc>
                <a:spcPts val="3108"/>
              </a:lnSpc>
              <a:spcBef>
                <a:spcPct val="0"/>
              </a:spcBef>
            </a:pPr>
            <a:r>
              <a:rPr lang="en-US" sz="2220" spc="-7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website VARCHAR(255)</a:t>
            </a:r>
          </a:p>
          <a:p>
            <a:pPr marL="0" lvl="0" indent="0" algn="l">
              <a:lnSpc>
                <a:spcPts val="3108"/>
              </a:lnSpc>
              <a:spcBef>
                <a:spcPct val="0"/>
              </a:spcBef>
            </a:pPr>
            <a:r>
              <a:rPr lang="en-US" sz="2220" spc="-7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);</a:t>
            </a:r>
          </a:p>
          <a:p>
            <a:pPr marL="0" lvl="0" indent="0" algn="l">
              <a:lnSpc>
                <a:spcPts val="3108"/>
              </a:lnSpc>
              <a:spcBef>
                <a:spcPct val="0"/>
              </a:spcBef>
            </a:pPr>
            <a:r>
              <a:rPr lang="en-US" sz="2220" spc="-7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Besonderheit: Geburtsdatum ≤ heute validiert</a:t>
            </a:r>
          </a:p>
          <a:p>
            <a:pPr marL="0" lvl="0" indent="0" algn="l">
              <a:lnSpc>
                <a:spcPts val="3108"/>
              </a:lnSpc>
              <a:spcBef>
                <a:spcPct val="0"/>
              </a:spcBef>
            </a:pPr>
            <a:r>
              <a:rPr lang="en-US" sz="2220" spc="-7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Rolle: Autoreninformationen für M:N Beziehung zu Büchern</a:t>
            </a:r>
          </a:p>
        </p:txBody>
      </p:sp>
      <p:sp>
        <p:nvSpPr>
          <p:cNvPr id="14" name="Freeform 14"/>
          <p:cNvSpPr/>
          <p:nvPr/>
        </p:nvSpPr>
        <p:spPr>
          <a:xfrm flipH="1">
            <a:off x="1369229" y="4264949"/>
            <a:ext cx="2832592" cy="4993351"/>
          </a:xfrm>
          <a:custGeom>
            <a:avLst/>
            <a:gdLst/>
            <a:ahLst/>
            <a:cxnLst/>
            <a:rect l="l" t="t" r="r" b="b"/>
            <a:pathLst>
              <a:path w="2832592" h="4993351">
                <a:moveTo>
                  <a:pt x="2832592" y="0"/>
                </a:moveTo>
                <a:lnTo>
                  <a:pt x="0" y="0"/>
                </a:lnTo>
                <a:lnTo>
                  <a:pt x="0" y="4993351"/>
                </a:lnTo>
                <a:lnTo>
                  <a:pt x="2832592" y="4993351"/>
                </a:lnTo>
                <a:lnTo>
                  <a:pt x="283259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TextBox 15"/>
          <p:cNvSpPr txBox="1"/>
          <p:nvPr/>
        </p:nvSpPr>
        <p:spPr>
          <a:xfrm>
            <a:off x="16021942" y="9063389"/>
            <a:ext cx="1237358" cy="670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43"/>
              </a:lnSpc>
            </a:pPr>
            <a:r>
              <a:rPr lang="en-US" sz="3959" b="1" spc="-126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633156"/>
            <a:ext cx="3904601" cy="257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98"/>
              </a:lnSpc>
            </a:pPr>
            <a:r>
              <a:rPr lang="en-US" sz="2019" b="1" spc="-64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BUCHTAUSCH-APP DATENBANK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 descr="Abstract Minimalist Lined Repeating Circle Shape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Freeform 6" descr="Abstract Minimalist Lined Repeating Circle Shape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Freeform 7" descr="Abstract Minimalist Dots Shapes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8" descr="Abstract Minimalist Dots Shapes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grpSp>
        <p:nvGrpSpPr>
          <p:cNvPr id="9" name="Group 9"/>
          <p:cNvGrpSpPr/>
          <p:nvPr/>
        </p:nvGrpSpPr>
        <p:grpSpPr>
          <a:xfrm>
            <a:off x="3004245" y="1599010"/>
            <a:ext cx="13919835" cy="6216426"/>
            <a:chOff x="0" y="-188505"/>
            <a:chExt cx="8958300" cy="8288567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996443"/>
              <a:ext cx="8958300" cy="6103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140C0C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CREATE TABLE genre (</a:t>
              </a:r>
            </a:p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140C0C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genre_id SERIAL PRIMARY KEY,</a:t>
              </a:r>
            </a:p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140C0C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name VARCHAR(100) UNIQUE NOT NULL,</a:t>
              </a:r>
            </a:p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140C0C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beschreibung TEXT,</a:t>
              </a:r>
            </a:p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140C0C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uebergeordnetes_genre_id INT REFERENCES genre(genre_id)</a:t>
              </a:r>
            </a:p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140C0C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);</a:t>
              </a:r>
            </a:p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140C0C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Besonderheit: Hierarchische Genre-Struktur durch Selbstreferenz</a:t>
              </a:r>
            </a:p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140C0C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Rolle: Kategorisierung von Büchern in Haupt- und Untergenres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88505"/>
              <a:ext cx="8958300" cy="12953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030"/>
                </a:lnSpc>
              </a:pPr>
              <a:r>
                <a:rPr lang="en-US" sz="7030" b="1" dirty="0">
                  <a:solidFill>
                    <a:srgbClr val="140C0C"/>
                  </a:solidFill>
                  <a:latin typeface="Lato Bold"/>
                  <a:ea typeface="Lato Bold"/>
                  <a:cs typeface="Lato Bold"/>
                  <a:sym typeface="Lato Bold"/>
                </a:rPr>
                <a:t>ENTITÄT GENRE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1028700" y="3944785"/>
            <a:ext cx="1200242" cy="2397430"/>
          </a:xfrm>
          <a:custGeom>
            <a:avLst/>
            <a:gdLst/>
            <a:ahLst/>
            <a:cxnLst/>
            <a:rect l="l" t="t" r="r" b="b"/>
            <a:pathLst>
              <a:path w="1200242" h="2397430">
                <a:moveTo>
                  <a:pt x="0" y="0"/>
                </a:moveTo>
                <a:lnTo>
                  <a:pt x="1200242" y="0"/>
                </a:lnTo>
                <a:lnTo>
                  <a:pt x="1200242" y="2397430"/>
                </a:lnTo>
                <a:lnTo>
                  <a:pt x="0" y="2397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TextBox 16"/>
          <p:cNvSpPr txBox="1"/>
          <p:nvPr/>
        </p:nvSpPr>
        <p:spPr>
          <a:xfrm>
            <a:off x="16021942" y="9063389"/>
            <a:ext cx="1237358" cy="670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43"/>
              </a:lnSpc>
            </a:pPr>
            <a:r>
              <a:rPr lang="en-US" sz="3959" spc="-126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07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633156"/>
            <a:ext cx="3904601" cy="257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98"/>
              </a:lnSpc>
            </a:pPr>
            <a:r>
              <a:rPr lang="en-US" sz="2019" spc="-64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BUCHTAUSCH-APP DATENBANK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 descr="Abstract Minimalist Lined Repeating Circle Shape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Freeform 6" descr="Abstract Minimalist Lined Repeating Circle Shape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Freeform 7" descr="Abstract Minimalist Dots Shapes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8" descr="Abstract Minimalist Dots Shapes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grpSp>
        <p:nvGrpSpPr>
          <p:cNvPr id="9" name="Group 9"/>
          <p:cNvGrpSpPr/>
          <p:nvPr/>
        </p:nvGrpSpPr>
        <p:grpSpPr>
          <a:xfrm>
            <a:off x="1028700" y="1224961"/>
            <a:ext cx="8115300" cy="7366044"/>
            <a:chOff x="0" y="0"/>
            <a:chExt cx="10820400" cy="9821392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10820400" cy="1787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559"/>
                </a:lnSpc>
              </a:pPr>
              <a:r>
                <a:rPr lang="en-US" sz="8799" b="1">
                  <a:solidFill>
                    <a:srgbClr val="140C0C"/>
                  </a:solidFill>
                  <a:latin typeface="Lato Bold"/>
                  <a:ea typeface="Lato Bold"/>
                  <a:cs typeface="Lato Bold"/>
                  <a:sym typeface="Lato Bold"/>
                </a:rPr>
                <a:t>ENTITÄT BUCH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2424631"/>
              <a:ext cx="7970456" cy="73967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28"/>
                </a:lnSpc>
              </a:pPr>
              <a:r>
                <a:rPr lang="en-US" sz="2091" spc="-66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CREATE TABLE buch (</a:t>
              </a:r>
            </a:p>
            <a:p>
              <a:pPr marL="0" lvl="0" indent="0" algn="l">
                <a:lnSpc>
                  <a:spcPts val="2928"/>
                </a:lnSpc>
              </a:pPr>
              <a:r>
                <a:rPr lang="en-US" sz="2091" spc="-66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buch_id SERIAL PRIMARY KEY,</a:t>
              </a:r>
            </a:p>
            <a:p>
              <a:pPr marL="0" lvl="0" indent="0" algn="l">
                <a:lnSpc>
                  <a:spcPts val="2928"/>
                </a:lnSpc>
              </a:pPr>
              <a:r>
                <a:rPr lang="en-US" sz="2091" spc="-66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isbn VARCHAR(17) UNIQUE NOT NULL,</a:t>
              </a:r>
            </a:p>
            <a:p>
              <a:pPr marL="0" lvl="0" indent="0" algn="l">
                <a:lnSpc>
                  <a:spcPts val="2928"/>
                </a:lnSpc>
              </a:pPr>
              <a:r>
                <a:rPr lang="en-US" sz="2091" spc="-66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titel VARCHAR(255) NOT NULL,</a:t>
              </a:r>
            </a:p>
            <a:p>
              <a:pPr marL="0" lvl="0" indent="0" algn="l">
                <a:lnSpc>
                  <a:spcPts val="2928"/>
                </a:lnSpc>
              </a:pPr>
              <a:r>
                <a:rPr lang="en-US" sz="2091" spc="-66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untertitel VARCHAR(255),</a:t>
              </a:r>
            </a:p>
            <a:p>
              <a:pPr marL="0" lvl="0" indent="0" algn="l">
                <a:lnSpc>
                  <a:spcPts val="2928"/>
                </a:lnSpc>
              </a:pPr>
              <a:r>
                <a:rPr lang="en-US" sz="2091" spc="-66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verlag_id INTEGER REFERENCES verlag(verlag_id),</a:t>
              </a:r>
            </a:p>
            <a:p>
              <a:pPr marL="0" lvl="0" indent="0" algn="l">
                <a:lnSpc>
                  <a:spcPts val="2928"/>
                </a:lnSpc>
              </a:pPr>
              <a:r>
                <a:rPr lang="en-US" sz="2091" spc="-66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erscheinungsjahr INTEGER CHECK (erscheinungsjahr &gt;= 1400),</a:t>
              </a:r>
            </a:p>
            <a:p>
              <a:pPr marL="0" lvl="0" indent="0" algn="l">
                <a:lnSpc>
                  <a:spcPts val="2928"/>
                </a:lnSpc>
              </a:pPr>
              <a:r>
                <a:rPr lang="en-US" sz="2091" spc="-66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sprache VARCHAR(50),</a:t>
              </a:r>
            </a:p>
            <a:p>
              <a:pPr marL="0" lvl="0" indent="0" algn="l">
                <a:lnSpc>
                  <a:spcPts val="2928"/>
                </a:lnSpc>
              </a:pPr>
              <a:r>
                <a:rPr lang="en-US" sz="2091" spc="-66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seitenzahl INTEGER CHECK (seitenzahl &gt; 0),</a:t>
              </a:r>
            </a:p>
            <a:p>
              <a:pPr marL="0" lvl="0" indent="0" algn="l">
                <a:lnSpc>
                  <a:spcPts val="2928"/>
                </a:lnSpc>
              </a:pPr>
              <a:r>
                <a:rPr lang="en-US" sz="2091" spc="-66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beschreibung TEXT</a:t>
              </a:r>
            </a:p>
            <a:p>
              <a:pPr marL="0" lvl="0" indent="0" algn="l">
                <a:lnSpc>
                  <a:spcPts val="2928"/>
                </a:lnSpc>
              </a:pPr>
              <a:r>
                <a:rPr lang="en-US" sz="2091" spc="-66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);</a:t>
              </a:r>
            </a:p>
            <a:p>
              <a:pPr marL="0" lvl="0" indent="0" algn="l">
                <a:lnSpc>
                  <a:spcPts val="2928"/>
                </a:lnSpc>
              </a:pPr>
              <a:r>
                <a:rPr lang="en-US" sz="2091" spc="-66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Besonderheiten: FK zu Verlag, ISBN-Eindeutigkeit, Validierung Jahr/Seitenzahl</a:t>
              </a:r>
            </a:p>
            <a:p>
              <a:pPr marL="0" lvl="0" indent="0" algn="l">
                <a:lnSpc>
                  <a:spcPts val="2928"/>
                </a:lnSpc>
              </a:pPr>
              <a:r>
                <a:rPr lang="en-US" sz="2091" spc="-66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Rolle: Zentrale Buchinformationen der Plattform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13622690" y="5046860"/>
            <a:ext cx="5959277" cy="6069633"/>
          </a:xfrm>
          <a:custGeom>
            <a:avLst/>
            <a:gdLst/>
            <a:ahLst/>
            <a:cxnLst/>
            <a:rect l="l" t="t" r="r" b="b"/>
            <a:pathLst>
              <a:path w="5959277" h="6069633">
                <a:moveTo>
                  <a:pt x="0" y="0"/>
                </a:moveTo>
                <a:lnTo>
                  <a:pt x="5959277" y="0"/>
                </a:lnTo>
                <a:lnTo>
                  <a:pt x="5959277" y="6069633"/>
                </a:lnTo>
                <a:lnTo>
                  <a:pt x="0" y="60696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13"/>
          <p:cNvSpPr/>
          <p:nvPr/>
        </p:nvSpPr>
        <p:spPr>
          <a:xfrm>
            <a:off x="11946361" y="935947"/>
            <a:ext cx="2295642" cy="2162078"/>
          </a:xfrm>
          <a:custGeom>
            <a:avLst/>
            <a:gdLst/>
            <a:ahLst/>
            <a:cxnLst/>
            <a:rect l="l" t="t" r="r" b="b"/>
            <a:pathLst>
              <a:path w="2295642" h="2162078">
                <a:moveTo>
                  <a:pt x="0" y="0"/>
                </a:moveTo>
                <a:lnTo>
                  <a:pt x="2295643" y="0"/>
                </a:lnTo>
                <a:lnTo>
                  <a:pt x="2295643" y="2162078"/>
                </a:lnTo>
                <a:lnTo>
                  <a:pt x="0" y="21620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14"/>
          <p:cNvSpPr/>
          <p:nvPr/>
        </p:nvSpPr>
        <p:spPr>
          <a:xfrm>
            <a:off x="15175520" y="-214630"/>
            <a:ext cx="4167561" cy="6145197"/>
          </a:xfrm>
          <a:custGeom>
            <a:avLst/>
            <a:gdLst/>
            <a:ahLst/>
            <a:cxnLst/>
            <a:rect l="l" t="t" r="r" b="b"/>
            <a:pathLst>
              <a:path w="4167561" h="6145197">
                <a:moveTo>
                  <a:pt x="0" y="0"/>
                </a:moveTo>
                <a:lnTo>
                  <a:pt x="4167560" y="0"/>
                </a:lnTo>
                <a:lnTo>
                  <a:pt x="4167560" y="6145197"/>
                </a:lnTo>
                <a:lnTo>
                  <a:pt x="0" y="61451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15"/>
          <p:cNvSpPr/>
          <p:nvPr/>
        </p:nvSpPr>
        <p:spPr>
          <a:xfrm>
            <a:off x="13520813" y="5143500"/>
            <a:ext cx="1442381" cy="1311255"/>
          </a:xfrm>
          <a:custGeom>
            <a:avLst/>
            <a:gdLst/>
            <a:ahLst/>
            <a:cxnLst/>
            <a:rect l="l" t="t" r="r" b="b"/>
            <a:pathLst>
              <a:path w="1442381" h="1311255">
                <a:moveTo>
                  <a:pt x="0" y="0"/>
                </a:moveTo>
                <a:lnTo>
                  <a:pt x="1442381" y="0"/>
                </a:lnTo>
                <a:lnTo>
                  <a:pt x="1442381" y="1311255"/>
                </a:lnTo>
                <a:lnTo>
                  <a:pt x="0" y="13112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TextBox 16"/>
          <p:cNvSpPr txBox="1"/>
          <p:nvPr/>
        </p:nvSpPr>
        <p:spPr>
          <a:xfrm>
            <a:off x="16021942" y="9063389"/>
            <a:ext cx="1237358" cy="670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43"/>
              </a:lnSpc>
            </a:pPr>
            <a:r>
              <a:rPr lang="en-US" sz="3959" b="1" spc="-126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08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633156"/>
            <a:ext cx="3904601" cy="257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98"/>
              </a:lnSpc>
            </a:pPr>
            <a:r>
              <a:rPr lang="en-US" sz="2019" b="1" spc="-64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BUCHTAUSCH-APP DATENBANK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 descr="Abstract Minimalist Lined Repeating Circle Shape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Freeform 6" descr="Abstract Minimalist Dots Shapes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Freeform 7" descr="Abstract Minimalist Dots Shapes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grpSp>
        <p:nvGrpSpPr>
          <p:cNvPr id="8" name="Group 8"/>
          <p:cNvGrpSpPr/>
          <p:nvPr/>
        </p:nvGrpSpPr>
        <p:grpSpPr>
          <a:xfrm>
            <a:off x="2819401" y="1148653"/>
            <a:ext cx="14104680" cy="6869974"/>
            <a:chOff x="-9847939" y="133351"/>
            <a:chExt cx="18806240" cy="9159965"/>
          </a:xfrm>
        </p:grpSpPr>
        <p:sp>
          <p:nvSpPr>
            <p:cNvPr id="9" name="TextBox 9"/>
            <p:cNvSpPr txBox="1"/>
            <p:nvPr/>
          </p:nvSpPr>
          <p:spPr>
            <a:xfrm>
              <a:off x="-9847939" y="4803796"/>
              <a:ext cx="18806239" cy="448952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2206"/>
                </a:lnSpc>
                <a:spcBef>
                  <a:spcPct val="0"/>
                </a:spcBef>
              </a:pPr>
              <a:r>
                <a:rPr lang="en-US" sz="1575" spc="-50" dirty="0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CREATE TABLE </a:t>
              </a:r>
              <a:r>
                <a:rPr lang="en-US" sz="1575" spc="-50" dirty="0" err="1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buch_autor</a:t>
              </a:r>
              <a:r>
                <a:rPr lang="en-US" sz="1575" spc="-50" dirty="0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(</a:t>
              </a:r>
            </a:p>
            <a:p>
              <a:pPr marL="0" lvl="0" indent="0" algn="l">
                <a:lnSpc>
                  <a:spcPts val="2206"/>
                </a:lnSpc>
                <a:spcBef>
                  <a:spcPct val="0"/>
                </a:spcBef>
              </a:pPr>
              <a:r>
                <a:rPr lang="en-US" sz="1575" spc="-50" dirty="0" err="1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buch_id</a:t>
              </a:r>
              <a:r>
                <a:rPr lang="en-US" sz="1575" spc="-50" dirty="0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INTEGER NOT NULL,</a:t>
              </a:r>
            </a:p>
            <a:p>
              <a:pPr marL="0" lvl="0" indent="0" algn="l">
                <a:lnSpc>
                  <a:spcPts val="2206"/>
                </a:lnSpc>
                <a:spcBef>
                  <a:spcPct val="0"/>
                </a:spcBef>
              </a:pPr>
              <a:r>
                <a:rPr lang="en-US" sz="1575" spc="-50" dirty="0" err="1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autor_id</a:t>
              </a:r>
              <a:r>
                <a:rPr lang="en-US" sz="1575" spc="-50" dirty="0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INTEGER NOT NULL,</a:t>
              </a:r>
            </a:p>
            <a:p>
              <a:pPr marL="0" lvl="0" indent="0" algn="l">
                <a:lnSpc>
                  <a:spcPts val="2206"/>
                </a:lnSpc>
                <a:spcBef>
                  <a:spcPct val="0"/>
                </a:spcBef>
              </a:pPr>
              <a:r>
                <a:rPr lang="en-US" sz="1575" spc="-50" dirty="0" err="1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hauptautor</a:t>
              </a:r>
              <a:r>
                <a:rPr lang="en-US" sz="1575" spc="-50" dirty="0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BOOLEAN DEFAULT FALSE,</a:t>
              </a:r>
            </a:p>
            <a:p>
              <a:pPr marL="0" lvl="0" indent="0" algn="l">
                <a:lnSpc>
                  <a:spcPts val="2206"/>
                </a:lnSpc>
                <a:spcBef>
                  <a:spcPct val="0"/>
                </a:spcBef>
              </a:pPr>
              <a:r>
                <a:rPr lang="en-US" sz="1575" spc="-50" dirty="0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PRIMARY KEY (</a:t>
              </a:r>
              <a:r>
                <a:rPr lang="en-US" sz="1575" spc="-50" dirty="0" err="1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buch_id</a:t>
              </a:r>
              <a:r>
                <a:rPr lang="en-US" sz="1575" spc="-50" dirty="0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, </a:t>
              </a:r>
              <a:r>
                <a:rPr lang="en-US" sz="1575" spc="-50" dirty="0" err="1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autor_id</a:t>
              </a:r>
              <a:r>
                <a:rPr lang="en-US" sz="1575" spc="-50" dirty="0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),</a:t>
              </a:r>
            </a:p>
            <a:p>
              <a:pPr marL="0" lvl="0" indent="0" algn="l">
                <a:lnSpc>
                  <a:spcPts val="2206"/>
                </a:lnSpc>
                <a:spcBef>
                  <a:spcPct val="0"/>
                </a:spcBef>
              </a:pPr>
              <a:r>
                <a:rPr lang="en-US" sz="1575" spc="-50" dirty="0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FOREIGN KEY (</a:t>
              </a:r>
              <a:r>
                <a:rPr lang="en-US" sz="1575" spc="-50" dirty="0" err="1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buch_id</a:t>
              </a:r>
              <a:r>
                <a:rPr lang="en-US" sz="1575" spc="-50" dirty="0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) REFERENCES </a:t>
              </a:r>
              <a:r>
                <a:rPr lang="en-US" sz="1575" spc="-50" dirty="0" err="1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buch</a:t>
              </a:r>
              <a:r>
                <a:rPr lang="en-US" sz="1575" spc="-50" dirty="0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(</a:t>
              </a:r>
              <a:r>
                <a:rPr lang="en-US" sz="1575" spc="-50" dirty="0" err="1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buch_id</a:t>
              </a:r>
              <a:r>
                <a:rPr lang="en-US" sz="1575" spc="-50" dirty="0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) ON DELETE CASCADE,</a:t>
              </a:r>
            </a:p>
            <a:p>
              <a:pPr marL="0" lvl="0" indent="0" algn="l">
                <a:lnSpc>
                  <a:spcPts val="2206"/>
                </a:lnSpc>
                <a:spcBef>
                  <a:spcPct val="0"/>
                </a:spcBef>
              </a:pPr>
              <a:r>
                <a:rPr lang="en-US" sz="1575" spc="-50" dirty="0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FOREIGN KEY (</a:t>
              </a:r>
              <a:r>
                <a:rPr lang="en-US" sz="1575" spc="-50" dirty="0" err="1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autor_id</a:t>
              </a:r>
              <a:r>
                <a:rPr lang="en-US" sz="1575" spc="-50" dirty="0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) REFERENCES </a:t>
              </a:r>
              <a:r>
                <a:rPr lang="en-US" sz="1575" spc="-50" dirty="0" err="1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autor</a:t>
              </a:r>
              <a:r>
                <a:rPr lang="en-US" sz="1575" spc="-50" dirty="0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(</a:t>
              </a:r>
              <a:r>
                <a:rPr lang="en-US" sz="1575" spc="-50" dirty="0" err="1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autor_id</a:t>
              </a:r>
              <a:r>
                <a:rPr lang="en-US" sz="1575" spc="-50" dirty="0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) ON DELETE CASCADE</a:t>
              </a:r>
            </a:p>
            <a:p>
              <a:pPr marL="0" lvl="0" indent="0" algn="l">
                <a:lnSpc>
                  <a:spcPts val="2206"/>
                </a:lnSpc>
                <a:spcBef>
                  <a:spcPct val="0"/>
                </a:spcBef>
              </a:pPr>
              <a:r>
                <a:rPr lang="en-US" sz="1575" spc="-50" dirty="0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);</a:t>
              </a:r>
            </a:p>
            <a:p>
              <a:pPr marL="0" lvl="0" indent="0" algn="l">
                <a:lnSpc>
                  <a:spcPts val="2206"/>
                </a:lnSpc>
                <a:spcBef>
                  <a:spcPct val="0"/>
                </a:spcBef>
              </a:pPr>
              <a:r>
                <a:rPr lang="en-US" sz="1575" spc="-50" dirty="0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</a:t>
              </a:r>
              <a:r>
                <a:rPr lang="en-US" sz="1575" spc="-50" dirty="0" err="1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Zusammengesetzter</a:t>
              </a:r>
              <a:r>
                <a:rPr lang="en-US" sz="1575" spc="-50" dirty="0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575" spc="-50" dirty="0" err="1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Primärschlüssel</a:t>
              </a:r>
              <a:r>
                <a:rPr lang="en-US" sz="1575" spc="-50" dirty="0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575" spc="-50" dirty="0" err="1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aus</a:t>
              </a:r>
              <a:r>
                <a:rPr lang="en-US" sz="1575" spc="-50" dirty="0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575" spc="-50" dirty="0" err="1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buch_id</a:t>
              </a:r>
              <a:r>
                <a:rPr lang="en-US" sz="1575" spc="-50" dirty="0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und </a:t>
              </a:r>
              <a:r>
                <a:rPr lang="en-US" sz="1575" spc="-50" dirty="0" err="1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autor_id</a:t>
              </a:r>
              <a:endParaRPr lang="en-US" sz="1575" spc="-50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marL="0" lvl="0" indent="0" algn="l">
                <a:lnSpc>
                  <a:spcPts val="2206"/>
                </a:lnSpc>
                <a:spcBef>
                  <a:spcPct val="0"/>
                </a:spcBef>
              </a:pPr>
              <a:r>
                <a:rPr lang="en-US" sz="1575" spc="-50" dirty="0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ON DELETE CASCADE für </a:t>
              </a:r>
              <a:r>
                <a:rPr lang="en-US" sz="1575" spc="-50" dirty="0" err="1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referenzielle</a:t>
              </a:r>
              <a:r>
                <a:rPr lang="en-US" sz="1575" spc="-50" dirty="0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575" spc="-50" dirty="0" err="1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Integrität</a:t>
              </a:r>
              <a:endParaRPr lang="en-US" sz="1575" spc="-50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marL="0" lvl="0" indent="0" algn="l">
                <a:lnSpc>
                  <a:spcPts val="2206"/>
                </a:lnSpc>
                <a:spcBef>
                  <a:spcPct val="0"/>
                </a:spcBef>
              </a:pPr>
              <a:r>
                <a:rPr lang="en-US" sz="1575" spc="-50" dirty="0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</a:t>
              </a:r>
              <a:r>
                <a:rPr lang="en-US" sz="1575" spc="-50" dirty="0" err="1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hauptautor</a:t>
              </a:r>
              <a:r>
                <a:rPr lang="en-US" sz="1575" spc="-50" dirty="0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-Flag </a:t>
              </a:r>
              <a:r>
                <a:rPr lang="en-US" sz="1575" spc="-50" dirty="0" err="1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kennzeichnet</a:t>
              </a:r>
              <a:r>
                <a:rPr lang="en-US" sz="1575" spc="-50" dirty="0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den </a:t>
              </a:r>
              <a:r>
                <a:rPr lang="en-US" sz="1575" spc="-50" dirty="0" err="1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Hauptautor</a:t>
              </a:r>
              <a:r>
                <a:rPr lang="en-US" sz="1575" spc="-50" dirty="0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575" spc="-50" dirty="0" err="1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bei</a:t>
              </a:r>
              <a:r>
                <a:rPr lang="en-US" sz="1575" spc="-50" dirty="0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Co-</a:t>
              </a:r>
              <a:r>
                <a:rPr lang="en-US" sz="1575" spc="-50" dirty="0" err="1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Autorenschaften</a:t>
              </a:r>
              <a:endParaRPr lang="en-US" sz="1575" spc="-50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marL="0" lvl="0" indent="0" algn="l">
                <a:lnSpc>
                  <a:spcPts val="2206"/>
                </a:lnSpc>
                <a:spcBef>
                  <a:spcPct val="0"/>
                </a:spcBef>
              </a:pPr>
              <a:r>
                <a:rPr lang="en-US" sz="1575" spc="-50" dirty="0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Rolle: </a:t>
              </a:r>
              <a:r>
                <a:rPr lang="en-US" sz="1575" spc="-50" dirty="0" err="1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Verknüpfung</a:t>
              </a:r>
              <a:r>
                <a:rPr lang="en-US" sz="1575" spc="-50" dirty="0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von </a:t>
              </a:r>
              <a:r>
                <a:rPr lang="en-US" sz="1575" spc="-50" dirty="0" err="1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Büchern</a:t>
              </a:r>
              <a:r>
                <a:rPr lang="en-US" sz="1575" spc="-50" dirty="0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575" spc="-50" dirty="0" err="1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zu</a:t>
              </a:r>
              <a:r>
                <a:rPr lang="en-US" sz="1575" spc="-50" dirty="0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575" spc="-50" dirty="0" err="1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mehreren</a:t>
              </a:r>
              <a:r>
                <a:rPr lang="en-US" sz="1575" spc="-50" dirty="0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1575" spc="-50" dirty="0" err="1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Autoren</a:t>
              </a:r>
              <a:r>
                <a:rPr lang="en-US" sz="1575" spc="-50" dirty="0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(M:N)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-9847939" y="133351"/>
              <a:ext cx="18806240" cy="266739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7800"/>
                </a:lnSpc>
              </a:pPr>
              <a:r>
                <a:rPr lang="en-US" sz="7800" b="1" dirty="0">
                  <a:solidFill>
                    <a:srgbClr val="140C0C"/>
                  </a:solidFill>
                  <a:latin typeface="Lato Bold"/>
                  <a:ea typeface="Lato Bold"/>
                  <a:cs typeface="Lato Bold"/>
                  <a:sym typeface="Lato Bold"/>
                </a:rPr>
                <a:t>BUCH_AUTOR (M:N BEZIEHUNG)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1028700" y="3944785"/>
            <a:ext cx="1200242" cy="2397430"/>
          </a:xfrm>
          <a:custGeom>
            <a:avLst/>
            <a:gdLst/>
            <a:ahLst/>
            <a:cxnLst/>
            <a:rect l="l" t="t" r="r" b="b"/>
            <a:pathLst>
              <a:path w="1200242" h="2397430">
                <a:moveTo>
                  <a:pt x="0" y="0"/>
                </a:moveTo>
                <a:lnTo>
                  <a:pt x="1200242" y="0"/>
                </a:lnTo>
                <a:lnTo>
                  <a:pt x="1200242" y="2397430"/>
                </a:lnTo>
                <a:lnTo>
                  <a:pt x="0" y="2397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TextBox 15"/>
          <p:cNvSpPr txBox="1"/>
          <p:nvPr/>
        </p:nvSpPr>
        <p:spPr>
          <a:xfrm>
            <a:off x="16021942" y="9063389"/>
            <a:ext cx="1237358" cy="670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43"/>
              </a:lnSpc>
            </a:pPr>
            <a:r>
              <a:rPr lang="en-US" sz="3959" b="1" spc="-126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09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633156"/>
            <a:ext cx="3904601" cy="257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98"/>
              </a:lnSpc>
            </a:pPr>
            <a:r>
              <a:rPr lang="en-US" sz="2019" b="1" spc="-64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BUCHTAUSCH-APP DATENBANK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 descr="Abstract Minimalist Lined Repeating Circle Shape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9" descr="Abstract Minimalist Dots Shapes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10" descr="Abstract Minimalist Dots Shapes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TextBox 11"/>
          <p:cNvSpPr txBox="1"/>
          <p:nvPr/>
        </p:nvSpPr>
        <p:spPr>
          <a:xfrm>
            <a:off x="2210699" y="2005608"/>
            <a:ext cx="8022194" cy="1517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22"/>
              </a:lnSpc>
            </a:pPr>
            <a:r>
              <a:rPr lang="en-US" sz="5640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BUCH_GENRE (M:N BEZIEHUNG)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10699" y="4719291"/>
            <a:ext cx="13866603" cy="392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</a:pPr>
            <a:r>
              <a:rPr lang="en-US" sz="2499">
                <a:solidFill>
                  <a:srgbClr val="140C0C"/>
                </a:solidFill>
                <a:latin typeface="Open Sans 2"/>
                <a:ea typeface="Open Sans 2"/>
                <a:cs typeface="Open Sans 2"/>
                <a:sym typeface="Open Sans 2"/>
              </a:rPr>
              <a:t>CREATE TABLE buch_genre (</a:t>
            </a:r>
          </a:p>
          <a:p>
            <a:pPr marL="0" lvl="0" indent="0" algn="l">
              <a:lnSpc>
                <a:spcPts val="3499"/>
              </a:lnSpc>
            </a:pPr>
            <a:r>
              <a:rPr lang="en-US" sz="2499">
                <a:solidFill>
                  <a:srgbClr val="140C0C"/>
                </a:solidFill>
                <a:latin typeface="Open Sans 2"/>
                <a:ea typeface="Open Sans 2"/>
                <a:cs typeface="Open Sans 2"/>
                <a:sym typeface="Open Sans 2"/>
              </a:rPr>
              <a:t>buch_id INT NOT NULL,</a:t>
            </a:r>
          </a:p>
          <a:p>
            <a:pPr marL="0" lvl="0" indent="0" algn="l">
              <a:lnSpc>
                <a:spcPts val="3499"/>
              </a:lnSpc>
            </a:pPr>
            <a:r>
              <a:rPr lang="en-US" sz="2499">
                <a:solidFill>
                  <a:srgbClr val="140C0C"/>
                </a:solidFill>
                <a:latin typeface="Open Sans 2"/>
                <a:ea typeface="Open Sans 2"/>
                <a:cs typeface="Open Sans 2"/>
                <a:sym typeface="Open Sans 2"/>
              </a:rPr>
              <a:t>genre_id INT NOT NULL,</a:t>
            </a:r>
          </a:p>
          <a:p>
            <a:pPr marL="0" lvl="0" indent="0" algn="l">
              <a:lnSpc>
                <a:spcPts val="3499"/>
              </a:lnSpc>
            </a:pPr>
            <a:r>
              <a:rPr lang="en-US" sz="2499">
                <a:solidFill>
                  <a:srgbClr val="140C0C"/>
                </a:solidFill>
                <a:latin typeface="Open Sans 2"/>
                <a:ea typeface="Open Sans 2"/>
                <a:cs typeface="Open Sans 2"/>
                <a:sym typeface="Open Sans 2"/>
              </a:rPr>
              <a:t>PRIMARY KEY (buch_id, genre_id),</a:t>
            </a:r>
          </a:p>
          <a:p>
            <a:pPr marL="0" lvl="0" indent="0" algn="l">
              <a:lnSpc>
                <a:spcPts val="3499"/>
              </a:lnSpc>
            </a:pPr>
            <a:r>
              <a:rPr lang="en-US" sz="2499">
                <a:solidFill>
                  <a:srgbClr val="140C0C"/>
                </a:solidFill>
                <a:latin typeface="Open Sans 2"/>
                <a:ea typeface="Open Sans 2"/>
                <a:cs typeface="Open Sans 2"/>
                <a:sym typeface="Open Sans 2"/>
              </a:rPr>
              <a:t>FOREIGN KEY (buch_id) REFERENCES buch(buch_id) ON DELETE CASCADE,</a:t>
            </a:r>
          </a:p>
          <a:p>
            <a:pPr marL="0" lvl="0" indent="0" algn="l">
              <a:lnSpc>
                <a:spcPts val="3499"/>
              </a:lnSpc>
            </a:pPr>
            <a:r>
              <a:rPr lang="en-US" sz="2499">
                <a:solidFill>
                  <a:srgbClr val="140C0C"/>
                </a:solidFill>
                <a:latin typeface="Open Sans 2"/>
                <a:ea typeface="Open Sans 2"/>
                <a:cs typeface="Open Sans 2"/>
                <a:sym typeface="Open Sans 2"/>
              </a:rPr>
              <a:t>FOREIGN KEY (genre_id) REFERENCES genre(genre_id) ON DELETE CASCADE</a:t>
            </a:r>
          </a:p>
          <a:p>
            <a:pPr marL="0" lvl="0" indent="0" algn="l">
              <a:lnSpc>
                <a:spcPts val="3499"/>
              </a:lnSpc>
            </a:pPr>
            <a:r>
              <a:rPr lang="en-US" sz="2499">
                <a:solidFill>
                  <a:srgbClr val="140C0C"/>
                </a:solidFill>
                <a:latin typeface="Open Sans 2"/>
                <a:ea typeface="Open Sans 2"/>
                <a:cs typeface="Open Sans 2"/>
                <a:sym typeface="Open Sans 2"/>
              </a:rPr>
              <a:t>);</a:t>
            </a:r>
          </a:p>
          <a:p>
            <a:pPr marL="0" lvl="0" indent="0" algn="l">
              <a:lnSpc>
                <a:spcPts val="3499"/>
              </a:lnSpc>
            </a:pPr>
            <a:r>
              <a:rPr lang="en-US" sz="2499">
                <a:solidFill>
                  <a:srgbClr val="140C0C"/>
                </a:solidFill>
                <a:latin typeface="Open Sans 2"/>
                <a:ea typeface="Open Sans 2"/>
                <a:cs typeface="Open Sans 2"/>
                <a:sym typeface="Open Sans 2"/>
              </a:rPr>
              <a:t>Zusammengesetzter Primärschlüssel aus buch_id und genre_id. ON DELETE CASCADE gewährleistet referentielle Integrität. Rolle: Verknüpfung von Büchern zu mehreren Genres.</a:t>
            </a:r>
          </a:p>
        </p:txBody>
      </p:sp>
      <p:sp>
        <p:nvSpPr>
          <p:cNvPr id="13" name="AutoShape 13"/>
          <p:cNvSpPr/>
          <p:nvPr/>
        </p:nvSpPr>
        <p:spPr>
          <a:xfrm>
            <a:off x="2210699" y="4069111"/>
            <a:ext cx="13844095" cy="0"/>
          </a:xfrm>
          <a:prstGeom prst="line">
            <a:avLst/>
          </a:prstGeom>
          <a:ln w="38100" cap="flat">
            <a:solidFill>
              <a:srgbClr val="897E7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Box 14"/>
          <p:cNvSpPr txBox="1"/>
          <p:nvPr/>
        </p:nvSpPr>
        <p:spPr>
          <a:xfrm>
            <a:off x="16021942" y="9063389"/>
            <a:ext cx="1237358" cy="670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43"/>
              </a:lnSpc>
            </a:pPr>
            <a:r>
              <a:rPr lang="en-US" sz="3959" b="1" spc="-126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633156"/>
            <a:ext cx="3904601" cy="257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98"/>
              </a:lnSpc>
            </a:pPr>
            <a:r>
              <a:rPr lang="en-US" sz="2019" b="1" spc="-64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BUCHTAUSCH-APP DATENBANK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 descr="Abstract Minimalist Lined Repeating Circle Shape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Freeform 6" descr="Abstract Minimalist Dots Shapes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Freeform 7" descr="Abstract Minimalist Dots Shapes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TextBox 8"/>
          <p:cNvSpPr txBox="1"/>
          <p:nvPr/>
        </p:nvSpPr>
        <p:spPr>
          <a:xfrm>
            <a:off x="1028700" y="2981325"/>
            <a:ext cx="12942131" cy="179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755"/>
              </a:lnSpc>
              <a:spcBef>
                <a:spcPct val="0"/>
              </a:spcBef>
            </a:pPr>
            <a:r>
              <a:rPr lang="en-US" sz="10539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ENTITÄT STANDORT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5147522"/>
            <a:ext cx="12856727" cy="3990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3"/>
              </a:lnSpc>
              <a:spcBef>
                <a:spcPct val="0"/>
              </a:spcBef>
            </a:pPr>
            <a:r>
              <a:rPr lang="en-US" sz="1502" spc="-48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CREATE TABLE standort (</a:t>
            </a:r>
          </a:p>
          <a:p>
            <a:pPr marL="0" lvl="0" indent="0" algn="l">
              <a:lnSpc>
                <a:spcPts val="2103"/>
              </a:lnSpc>
              <a:spcBef>
                <a:spcPct val="0"/>
              </a:spcBef>
            </a:pPr>
            <a:r>
              <a:rPr lang="en-US" sz="1502" spc="-48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standort_id SERIAL PRIMARY KEY,</a:t>
            </a:r>
          </a:p>
          <a:p>
            <a:pPr marL="0" lvl="0" indent="0" algn="l">
              <a:lnSpc>
                <a:spcPts val="2103"/>
              </a:lnSpc>
              <a:spcBef>
                <a:spcPct val="0"/>
              </a:spcBef>
            </a:pPr>
            <a:r>
              <a:rPr lang="en-US" sz="1502" spc="-48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nutzer_id INTEGER REFERENCES nutzer(nutzer_id),</a:t>
            </a:r>
          </a:p>
          <a:p>
            <a:pPr marL="0" lvl="0" indent="0" algn="l">
              <a:lnSpc>
                <a:spcPts val="2103"/>
              </a:lnSpc>
              <a:spcBef>
                <a:spcPct val="0"/>
              </a:spcBef>
            </a:pPr>
            <a:r>
              <a:rPr lang="en-US" sz="1502" spc="-48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bezeichnung VARCHAR(100),</a:t>
            </a:r>
          </a:p>
          <a:p>
            <a:pPr marL="0" lvl="0" indent="0" algn="l">
              <a:lnSpc>
                <a:spcPts val="2103"/>
              </a:lnSpc>
              <a:spcBef>
                <a:spcPct val="0"/>
              </a:spcBef>
            </a:pPr>
            <a:r>
              <a:rPr lang="en-US" sz="1502" spc="-48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strasse VARCHAR(200),</a:t>
            </a:r>
          </a:p>
          <a:p>
            <a:pPr marL="0" lvl="0" indent="0" algn="l">
              <a:lnSpc>
                <a:spcPts val="2103"/>
              </a:lnSpc>
              <a:spcBef>
                <a:spcPct val="0"/>
              </a:spcBef>
            </a:pPr>
            <a:r>
              <a:rPr lang="en-US" sz="1502" spc="-48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plz VARCHAR(10),</a:t>
            </a:r>
          </a:p>
          <a:p>
            <a:pPr marL="0" lvl="0" indent="0" algn="l">
              <a:lnSpc>
                <a:spcPts val="2103"/>
              </a:lnSpc>
              <a:spcBef>
                <a:spcPct val="0"/>
              </a:spcBef>
            </a:pPr>
            <a:r>
              <a:rPr lang="en-US" sz="1502" spc="-48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stadt VARCHAR(100),</a:t>
            </a:r>
          </a:p>
          <a:p>
            <a:pPr marL="0" lvl="0" indent="0" algn="l">
              <a:lnSpc>
                <a:spcPts val="2103"/>
              </a:lnSpc>
              <a:spcBef>
                <a:spcPct val="0"/>
              </a:spcBef>
            </a:pPr>
            <a:r>
              <a:rPr lang="en-US" sz="1502" spc="-48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latitude DECIMAL(9,6) CHECK (latitude BETWEEN -90 AND 90),</a:t>
            </a:r>
          </a:p>
          <a:p>
            <a:pPr marL="0" lvl="0" indent="0" algn="l">
              <a:lnSpc>
                <a:spcPts val="2103"/>
              </a:lnSpc>
              <a:spcBef>
                <a:spcPct val="0"/>
              </a:spcBef>
            </a:pPr>
            <a:r>
              <a:rPr lang="en-US" sz="1502" spc="-48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longitude DECIMAL(9,6) CHECK (longitude BETWEEN -180 AND 180),</a:t>
            </a:r>
          </a:p>
          <a:p>
            <a:pPr marL="0" lvl="0" indent="0" algn="l">
              <a:lnSpc>
                <a:spcPts val="2103"/>
              </a:lnSpc>
              <a:spcBef>
                <a:spcPct val="0"/>
              </a:spcBef>
            </a:pPr>
            <a:r>
              <a:rPr lang="en-US" sz="1502" spc="-48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abholzeiten TEXT,</a:t>
            </a:r>
          </a:p>
          <a:p>
            <a:pPr marL="0" lvl="0" indent="0" algn="l">
              <a:lnSpc>
                <a:spcPts val="2103"/>
              </a:lnSpc>
              <a:spcBef>
                <a:spcPct val="0"/>
              </a:spcBef>
            </a:pPr>
            <a:r>
              <a:rPr lang="en-US" sz="1502" spc="-48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versand_option BOOLEAN DEFAULT FALSE,</a:t>
            </a:r>
          </a:p>
          <a:p>
            <a:pPr marL="0" lvl="0" indent="0" algn="l">
              <a:lnSpc>
                <a:spcPts val="2103"/>
              </a:lnSpc>
              <a:spcBef>
                <a:spcPct val="0"/>
              </a:spcBef>
            </a:pPr>
            <a:r>
              <a:rPr lang="en-US" sz="1502" spc="-48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ist_standard BOOLEAN DEFAULT FALSE</a:t>
            </a:r>
          </a:p>
          <a:p>
            <a:pPr marL="0" lvl="0" indent="0" algn="l">
              <a:lnSpc>
                <a:spcPts val="2103"/>
              </a:lnSpc>
              <a:spcBef>
                <a:spcPct val="0"/>
              </a:spcBef>
            </a:pPr>
            <a:r>
              <a:rPr lang="en-US" sz="1502" spc="-48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);</a:t>
            </a:r>
          </a:p>
          <a:p>
            <a:pPr marL="0" lvl="0" indent="0" algn="l">
              <a:lnSpc>
                <a:spcPts val="2103"/>
              </a:lnSpc>
              <a:spcBef>
                <a:spcPct val="0"/>
              </a:spcBef>
            </a:pPr>
            <a:r>
              <a:rPr lang="en-US" sz="1502" spc="-48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Besonderheiten: Koordinatenvalidierung für Geo-Suche, Versandoption als Alternative zur Abholung.</a:t>
            </a:r>
          </a:p>
          <a:p>
            <a:pPr marL="0" lvl="0" indent="0" algn="l">
              <a:lnSpc>
                <a:spcPts val="2103"/>
              </a:lnSpc>
              <a:spcBef>
                <a:spcPct val="0"/>
              </a:spcBef>
            </a:pPr>
            <a:r>
              <a:rPr lang="en-US" sz="1502" spc="-48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Rolle: Definiert Buchübergabe- und Suchorte der Nutzer.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533478" y="6532478"/>
            <a:ext cx="3754522" cy="3754522"/>
            <a:chOff x="0" y="0"/>
            <a:chExt cx="5006029" cy="5006029"/>
          </a:xfrm>
        </p:grpSpPr>
        <p:grpSp>
          <p:nvGrpSpPr>
            <p:cNvPr id="11" name="Group 11"/>
            <p:cNvGrpSpPr/>
            <p:nvPr/>
          </p:nvGrpSpPr>
          <p:grpSpPr>
            <a:xfrm>
              <a:off x="2503014" y="2503014"/>
              <a:ext cx="1251507" cy="1251507"/>
              <a:chOff x="0" y="0"/>
              <a:chExt cx="1913890" cy="191389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7E695C"/>
              </a:solidFill>
            </p:spPr>
            <p:txBody>
              <a:bodyPr/>
              <a:lstStyle/>
              <a:p>
                <a:endParaRPr lang="de-DE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2503014" y="1251507"/>
              <a:ext cx="1251507" cy="1251507"/>
              <a:chOff x="0" y="0"/>
              <a:chExt cx="1913890" cy="191389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7E695C"/>
              </a:solidFill>
            </p:spPr>
            <p:txBody>
              <a:bodyPr/>
              <a:lstStyle/>
              <a:p>
                <a:endParaRPr lang="de-DE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251507" y="2503014"/>
              <a:ext cx="1251507" cy="1251507"/>
              <a:chOff x="0" y="0"/>
              <a:chExt cx="1913890" cy="191389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7E695C"/>
              </a:solidFill>
            </p:spPr>
            <p:txBody>
              <a:bodyPr/>
              <a:lstStyle/>
              <a:p>
                <a:endParaRPr lang="de-DE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3754522" y="3754522"/>
              <a:ext cx="1251507" cy="1251507"/>
              <a:chOff x="0" y="0"/>
              <a:chExt cx="1913890" cy="191389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7E695C"/>
              </a:solidFill>
            </p:spPr>
            <p:txBody>
              <a:bodyPr/>
              <a:lstStyle/>
              <a:p>
                <a:endParaRPr lang="de-DE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754522" y="2503014"/>
              <a:ext cx="1251507" cy="1251507"/>
              <a:chOff x="0" y="0"/>
              <a:chExt cx="1913890" cy="191389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7E695C"/>
              </a:solidFill>
            </p:spPr>
            <p:txBody>
              <a:bodyPr/>
              <a:lstStyle/>
              <a:p>
                <a:endParaRPr lang="de-DE"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2503014" y="3754522"/>
              <a:ext cx="1251507" cy="1251507"/>
              <a:chOff x="0" y="0"/>
              <a:chExt cx="1913890" cy="191389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7E695C"/>
              </a:solidFill>
            </p:spPr>
            <p:txBody>
              <a:bodyPr/>
              <a:lstStyle/>
              <a:p>
                <a:endParaRPr lang="de-DE"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3754522" y="1251507"/>
              <a:ext cx="1251507" cy="1251507"/>
              <a:chOff x="0" y="0"/>
              <a:chExt cx="1913890" cy="191389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7E695C"/>
              </a:solidFill>
            </p:spPr>
            <p:txBody>
              <a:bodyPr/>
              <a:lstStyle/>
              <a:p>
                <a:endParaRPr lang="de-DE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1251507" y="3754522"/>
              <a:ext cx="1251507" cy="1251507"/>
              <a:chOff x="0" y="0"/>
              <a:chExt cx="1913890" cy="191389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7E695C"/>
              </a:solidFill>
            </p:spPr>
            <p:txBody>
              <a:bodyPr/>
              <a:lstStyle/>
              <a:p>
                <a:endParaRPr lang="de-DE"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3754522" y="0"/>
              <a:ext cx="1251507" cy="1251507"/>
              <a:chOff x="0" y="0"/>
              <a:chExt cx="1913890" cy="191389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7E695C"/>
              </a:solidFill>
            </p:spPr>
            <p:txBody>
              <a:bodyPr/>
              <a:lstStyle/>
              <a:p>
                <a:endParaRPr lang="de-DE"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0" y="3754522"/>
              <a:ext cx="1251507" cy="1251507"/>
              <a:chOff x="0" y="0"/>
              <a:chExt cx="1913890" cy="191389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7E695C"/>
              </a:solidFill>
            </p:spPr>
            <p:txBody>
              <a:bodyPr/>
              <a:lstStyle/>
              <a:p>
                <a:endParaRPr lang="de-DE"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2503014" y="1251507"/>
              <a:ext cx="1251507" cy="1251507"/>
              <a:chOff x="0" y="0"/>
              <a:chExt cx="1913890" cy="191389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endParaRPr lang="de-DE"/>
              </a:p>
            </p:txBody>
          </p:sp>
        </p:grpSp>
      </p:grpSp>
      <p:sp>
        <p:nvSpPr>
          <p:cNvPr id="33" name="TextBox 33"/>
          <p:cNvSpPr txBox="1"/>
          <p:nvPr/>
        </p:nvSpPr>
        <p:spPr>
          <a:xfrm>
            <a:off x="16021942" y="9082439"/>
            <a:ext cx="1237358" cy="513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69"/>
              </a:lnSpc>
            </a:pPr>
            <a:r>
              <a:rPr lang="en-US" sz="3049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11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8700" y="659870"/>
            <a:ext cx="3904601" cy="194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61"/>
              </a:lnSpc>
            </a:pPr>
            <a:r>
              <a:rPr lang="en-US" sz="1555" spc="-49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BUCHTAUSCH-APP DATENBANK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 descr="Abstract Minimalist Lined Repeating Circle Shape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Freeform 6" descr="Abstract Minimalist Lined Repeating Circle Shape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Freeform 7" descr="Abstract Minimalist Dots Shapes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8" descr="Abstract Minimalist Dots Shapes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TextBox 9"/>
          <p:cNvSpPr txBox="1"/>
          <p:nvPr/>
        </p:nvSpPr>
        <p:spPr>
          <a:xfrm>
            <a:off x="1562100" y="1518348"/>
            <a:ext cx="13422789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</a:pPr>
            <a:r>
              <a:rPr lang="en-US" sz="7500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ENTITÄT BUCH_EXEMPLAR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62100" y="3159100"/>
            <a:ext cx="13422789" cy="5242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87"/>
              </a:lnSpc>
              <a:spcBef>
                <a:spcPct val="0"/>
              </a:spcBef>
            </a:pPr>
            <a:r>
              <a:rPr lang="en-US" sz="2491" spc="-79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CREATE TABLE buch_exemplar (</a:t>
            </a:r>
          </a:p>
          <a:p>
            <a:pPr marL="0" lvl="0" indent="0" algn="l">
              <a:lnSpc>
                <a:spcPts val="3487"/>
              </a:lnSpc>
              <a:spcBef>
                <a:spcPct val="0"/>
              </a:spcBef>
            </a:pPr>
            <a:r>
              <a:rPr lang="en-US" sz="2491" spc="-79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exemplar_id SERIAL PRIMARY KEY,</a:t>
            </a:r>
          </a:p>
          <a:p>
            <a:pPr marL="0" lvl="0" indent="0" algn="l">
              <a:lnSpc>
                <a:spcPts val="3487"/>
              </a:lnSpc>
              <a:spcBef>
                <a:spcPct val="0"/>
              </a:spcBef>
            </a:pPr>
            <a:r>
              <a:rPr lang="en-US" sz="2491" spc="-79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buch_id INTEGER REFERENCES buch(buch_id),</a:t>
            </a:r>
          </a:p>
          <a:p>
            <a:pPr marL="0" lvl="0" indent="0" algn="l">
              <a:lnSpc>
                <a:spcPts val="3487"/>
              </a:lnSpc>
              <a:spcBef>
                <a:spcPct val="0"/>
              </a:spcBef>
            </a:pPr>
            <a:r>
              <a:rPr lang="en-US" sz="2491" spc="-79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besitzer_id INTEGER REFERENCES nutzer(nutzer_id),</a:t>
            </a:r>
          </a:p>
          <a:p>
            <a:pPr marL="0" lvl="0" indent="0" algn="l">
              <a:lnSpc>
                <a:spcPts val="3487"/>
              </a:lnSpc>
              <a:spcBef>
                <a:spcPct val="0"/>
              </a:spcBef>
            </a:pPr>
            <a:r>
              <a:rPr lang="en-US" sz="2491" spc="-79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standort_id INTEGER REFERENCES standort(standort_id),</a:t>
            </a:r>
          </a:p>
          <a:p>
            <a:pPr marL="0" lvl="0" indent="0" algn="l">
              <a:lnSpc>
                <a:spcPts val="3487"/>
              </a:lnSpc>
              <a:spcBef>
                <a:spcPct val="0"/>
              </a:spcBef>
            </a:pPr>
            <a:r>
              <a:rPr lang="en-US" sz="2491" spc="-79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zustand VARCHAR(50) CHECK (zustand IN ('neu', 'sehr gut', 'gut', 'akzeptabel', 'schlecht')),</a:t>
            </a:r>
          </a:p>
          <a:p>
            <a:pPr marL="0" lvl="0" indent="0" algn="l">
              <a:lnSpc>
                <a:spcPts val="3487"/>
              </a:lnSpc>
              <a:spcBef>
                <a:spcPct val="0"/>
              </a:spcBef>
            </a:pPr>
            <a:r>
              <a:rPr lang="en-US" sz="2491" spc="-79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status VARCHAR(20) CHECK (status IN ('verfügbar', 'ausgeliehen', 'reserviert')),</a:t>
            </a:r>
          </a:p>
          <a:p>
            <a:pPr marL="0" lvl="0" indent="0" algn="l">
              <a:lnSpc>
                <a:spcPts val="3487"/>
              </a:lnSpc>
              <a:spcBef>
                <a:spcPct val="0"/>
              </a:spcBef>
            </a:pPr>
            <a:r>
              <a:rPr lang="en-US" sz="2491" spc="-79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max_leihdauer_tage INTEGER DEFAULT 30,</a:t>
            </a:r>
          </a:p>
          <a:p>
            <a:pPr marL="0" lvl="0" indent="0" algn="l">
              <a:lnSpc>
                <a:spcPts val="3487"/>
              </a:lnSpc>
              <a:spcBef>
                <a:spcPct val="0"/>
              </a:spcBef>
            </a:pPr>
            <a:r>
              <a:rPr lang="en-US" sz="2491" spc="-79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notizen TEXT,</a:t>
            </a:r>
          </a:p>
          <a:p>
            <a:pPr marL="0" lvl="0" indent="0" algn="l">
              <a:lnSpc>
                <a:spcPts val="3487"/>
              </a:lnSpc>
              <a:spcBef>
                <a:spcPct val="0"/>
              </a:spcBef>
            </a:pPr>
            <a:r>
              <a:rPr lang="en-US" sz="2491" spc="-79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anzahl_ausleihen INTEGER DEFAULT 0</a:t>
            </a:r>
          </a:p>
          <a:p>
            <a:pPr marL="0" lvl="0" indent="0" algn="l">
              <a:lnSpc>
                <a:spcPts val="3487"/>
              </a:lnSpc>
              <a:spcBef>
                <a:spcPct val="0"/>
              </a:spcBef>
            </a:pPr>
            <a:r>
              <a:rPr lang="en-US" sz="2491" spc="-79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);</a:t>
            </a:r>
          </a:p>
          <a:p>
            <a:pPr marL="0" lvl="0" indent="0" algn="l">
              <a:lnSpc>
                <a:spcPts val="3487"/>
              </a:lnSpc>
              <a:spcBef>
                <a:spcPct val="0"/>
              </a:spcBef>
            </a:pPr>
            <a:r>
              <a:rPr lang="en-US" sz="2491" spc="-79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Rolle: Physische Buchexemplare mit Besitz, Standort und Verfügbarkeitsstatus.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028700" y="9248775"/>
            <a:ext cx="16230600" cy="9525"/>
          </a:xfrm>
          <a:prstGeom prst="rect">
            <a:avLst/>
          </a:prstGeom>
          <a:solidFill>
            <a:srgbClr val="A39890"/>
          </a:solidFill>
        </p:spPr>
        <p:txBody>
          <a:bodyPr/>
          <a:lstStyle/>
          <a:p>
            <a:endParaRPr lang="de-DE"/>
          </a:p>
        </p:txBody>
      </p:sp>
      <p:sp>
        <p:nvSpPr>
          <p:cNvPr id="12" name="TextBox 12"/>
          <p:cNvSpPr txBox="1"/>
          <p:nvPr/>
        </p:nvSpPr>
        <p:spPr>
          <a:xfrm>
            <a:off x="16021942" y="9063389"/>
            <a:ext cx="1237358" cy="670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43"/>
              </a:lnSpc>
            </a:pPr>
            <a:r>
              <a:rPr lang="en-US" sz="3959" b="1" spc="-126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633156"/>
            <a:ext cx="3904601" cy="257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98"/>
              </a:lnSpc>
            </a:pPr>
            <a:r>
              <a:rPr lang="en-US" sz="2019" b="1" spc="-64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BUCHTAUSCH-APP DATENBANK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 descr="Abstract Minimalist Dots Shapes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Freeform 6" descr="Abstract Minimalist Dots Shapes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grpSp>
        <p:nvGrpSpPr>
          <p:cNvPr id="7" name="Group 7"/>
          <p:cNvGrpSpPr/>
          <p:nvPr/>
        </p:nvGrpSpPr>
        <p:grpSpPr>
          <a:xfrm>
            <a:off x="7970324" y="1294139"/>
            <a:ext cx="9040494" cy="7698722"/>
            <a:chOff x="0" y="0"/>
            <a:chExt cx="12053992" cy="10264962"/>
          </a:xfrm>
        </p:grpSpPr>
        <p:sp>
          <p:nvSpPr>
            <p:cNvPr id="8" name="TextBox 8"/>
            <p:cNvSpPr txBox="1"/>
            <p:nvPr/>
          </p:nvSpPr>
          <p:spPr>
            <a:xfrm>
              <a:off x="0" y="1708511"/>
              <a:ext cx="10607073" cy="85564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25"/>
                </a:lnSpc>
              </a:pPr>
              <a:r>
                <a:rPr lang="en-US" sz="2635" spc="-84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CREATE TABLE ausleihe (</a:t>
              </a:r>
            </a:p>
            <a:p>
              <a:pPr marL="0" lvl="0" indent="0" algn="l">
                <a:lnSpc>
                  <a:spcPts val="3425"/>
                </a:lnSpc>
              </a:pPr>
              <a:r>
                <a:rPr lang="en-US" sz="2635" spc="-84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ausleihe_id SERIAL PRIMARY KEY,</a:t>
              </a:r>
            </a:p>
            <a:p>
              <a:pPr marL="0" lvl="0" indent="0" algn="l">
                <a:lnSpc>
                  <a:spcPts val="3425"/>
                </a:lnSpc>
              </a:pPr>
              <a:r>
                <a:rPr lang="en-US" sz="2635" spc="-84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exemplar_id INT REFERENCES buch_exemplar(exemplar_id),</a:t>
              </a:r>
            </a:p>
            <a:p>
              <a:pPr marL="0" lvl="0" indent="0" algn="l">
                <a:lnSpc>
                  <a:spcPts val="3425"/>
                </a:lnSpc>
              </a:pPr>
              <a:r>
                <a:rPr lang="en-US" sz="2635" spc="-84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verleiher_id INT REFERENCES nutzer(nutzer_id),</a:t>
              </a:r>
            </a:p>
            <a:p>
              <a:pPr marL="0" lvl="0" indent="0" algn="l">
                <a:lnSpc>
                  <a:spcPts val="3425"/>
                </a:lnSpc>
              </a:pPr>
              <a:r>
                <a:rPr lang="en-US" sz="2635" spc="-84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entleiher_id INT REFERENCES nutzer(nutzer_id),</a:t>
              </a:r>
            </a:p>
            <a:p>
              <a:pPr marL="0" lvl="0" indent="0" algn="l">
                <a:lnSpc>
                  <a:spcPts val="3425"/>
                </a:lnSpc>
              </a:pPr>
              <a:r>
                <a:rPr lang="en-US" sz="2635" spc="-84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standort_id INT REFERENCES standort(standort_id),</a:t>
              </a:r>
            </a:p>
            <a:p>
              <a:pPr marL="0" lvl="0" indent="0" algn="l">
                <a:lnSpc>
                  <a:spcPts val="3425"/>
                </a:lnSpc>
              </a:pPr>
              <a:r>
                <a:rPr lang="en-US" sz="2635" spc="-84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startdatum DATE NOT NULL,</a:t>
              </a:r>
            </a:p>
            <a:p>
              <a:pPr marL="0" lvl="0" indent="0" algn="l">
                <a:lnSpc>
                  <a:spcPts val="3425"/>
                </a:lnSpc>
              </a:pPr>
              <a:r>
                <a:rPr lang="en-US" sz="2635" spc="-84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enddatum DATE NOT NULL,</a:t>
              </a:r>
            </a:p>
            <a:p>
              <a:pPr marL="0" lvl="0" indent="0" algn="l">
                <a:lnSpc>
                  <a:spcPts val="3425"/>
                </a:lnSpc>
              </a:pPr>
              <a:r>
                <a:rPr lang="en-US" sz="2635" spc="-84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rueckgabedatum DATE,</a:t>
              </a:r>
            </a:p>
            <a:p>
              <a:pPr marL="0" lvl="0" indent="0" algn="l">
                <a:lnSpc>
                  <a:spcPts val="3425"/>
                </a:lnSpc>
              </a:pPr>
              <a:r>
                <a:rPr lang="en-US" sz="2635" spc="-84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status VARCHAR(20) CHECK (status IN ('aktiv', 'abgeschlossen', 'ueberfaellig'))</a:t>
              </a:r>
            </a:p>
            <a:p>
              <a:pPr marL="0" lvl="0" indent="0" algn="l">
                <a:lnSpc>
                  <a:spcPts val="3425"/>
                </a:lnSpc>
              </a:pPr>
              <a:r>
                <a:rPr lang="en-US" sz="2635" spc="-84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);</a:t>
              </a:r>
            </a:p>
            <a:p>
              <a:pPr marL="0" lvl="0" indent="0" algn="l">
                <a:lnSpc>
                  <a:spcPts val="3425"/>
                </a:lnSpc>
              </a:pPr>
              <a:r>
                <a:rPr lang="en-US" sz="2635" spc="-84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Rolle: Dokumentation aller Ausleihvorgänge zwischen Nutzern.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2053992" cy="8466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199"/>
                </a:lnSpc>
              </a:pPr>
              <a:r>
                <a:rPr lang="en-US" sz="3999" b="1">
                  <a:solidFill>
                    <a:srgbClr val="140C0C"/>
                  </a:solidFill>
                  <a:latin typeface="Lato Bold"/>
                  <a:ea typeface="Lato Bold"/>
                  <a:cs typeface="Lato Bold"/>
                  <a:sym typeface="Lato Bold"/>
                </a:rPr>
                <a:t>ENTITÄT AUSLEIHE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1567077" y="1608026"/>
            <a:ext cx="5039658" cy="7070949"/>
          </a:xfrm>
          <a:custGeom>
            <a:avLst/>
            <a:gdLst/>
            <a:ahLst/>
            <a:cxnLst/>
            <a:rect l="l" t="t" r="r" b="b"/>
            <a:pathLst>
              <a:path w="5039658" h="7070949">
                <a:moveTo>
                  <a:pt x="0" y="0"/>
                </a:moveTo>
                <a:lnTo>
                  <a:pt x="5039658" y="0"/>
                </a:lnTo>
                <a:lnTo>
                  <a:pt x="5039658" y="7070948"/>
                </a:lnTo>
                <a:lnTo>
                  <a:pt x="0" y="7070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TextBox 11"/>
          <p:cNvSpPr txBox="1"/>
          <p:nvPr/>
        </p:nvSpPr>
        <p:spPr>
          <a:xfrm>
            <a:off x="16021942" y="9063389"/>
            <a:ext cx="1237358" cy="670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43"/>
              </a:lnSpc>
            </a:pPr>
            <a:r>
              <a:rPr lang="en-US" sz="3959" b="1" spc="-126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633156"/>
            <a:ext cx="3904601" cy="257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98"/>
              </a:lnSpc>
            </a:pPr>
            <a:r>
              <a:rPr lang="en-US" sz="2019" b="1" spc="-64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BUCHTAUSCH-APP DATENBANK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 descr="Abstract Minimalist Lined Repeating Circle Shape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9" descr="Abstract Minimalist Lined Repeating Circle Shape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10" descr="Abstract Minimalist Dots Shapes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11" descr="Abstract Minimalist Dots Shapes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grpSp>
        <p:nvGrpSpPr>
          <p:cNvPr id="12" name="Group 12"/>
          <p:cNvGrpSpPr/>
          <p:nvPr/>
        </p:nvGrpSpPr>
        <p:grpSpPr>
          <a:xfrm>
            <a:off x="3396193" y="1150587"/>
            <a:ext cx="12741423" cy="7985826"/>
            <a:chOff x="0" y="0"/>
            <a:chExt cx="16988563" cy="10647768"/>
          </a:xfrm>
        </p:grpSpPr>
        <p:sp>
          <p:nvSpPr>
            <p:cNvPr id="13" name="TextBox 13"/>
            <p:cNvSpPr txBox="1"/>
            <p:nvPr/>
          </p:nvSpPr>
          <p:spPr>
            <a:xfrm>
              <a:off x="0" y="2760646"/>
              <a:ext cx="16988563" cy="78871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  <a:r>
                <a:rPr lang="en-US" sz="2800" spc="-89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CREATE TABLE ausleihe_anfrage (</a:t>
              </a:r>
            </a:p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  <a:r>
                <a:rPr lang="en-US" sz="2800" spc="-89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anfrage_id SERIAL PRIMARY KEY,</a:t>
              </a:r>
            </a:p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  <a:r>
                <a:rPr lang="en-US" sz="2800" spc="-89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nutzer_id INT NOT NULL REFERENCES nutzer(nutzer_id),</a:t>
              </a:r>
            </a:p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  <a:r>
                <a:rPr lang="en-US" sz="2800" spc="-89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exemplar_id INT NOT NULL REFERENCES buch_exemplar(exemplar_id),</a:t>
              </a:r>
            </a:p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  <a:r>
                <a:rPr lang="en-US" sz="2800" spc="-89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gewuenschter_start DATE NOT NULL,</a:t>
              </a:r>
            </a:p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  <a:r>
                <a:rPr lang="en-US" sz="2800" spc="-89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gewuenschtes_ende DATE NOT NULL,</a:t>
              </a:r>
            </a:p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  <a:r>
                <a:rPr lang="en-US" sz="2800" spc="-89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status VARCHAR(20) DEFAULT 'offen',</a:t>
              </a:r>
            </a:p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  <a:r>
                <a:rPr lang="en-US" sz="2800" spc="-89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nachricht TEXT,</a:t>
              </a:r>
            </a:p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  <a:r>
                <a:rPr lang="en-US" sz="2800" spc="-89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anfragedatum TIMESTAMP DEFAULT CURRENT_TIMESTAMP</a:t>
              </a:r>
            </a:p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  <a:r>
                <a:rPr lang="en-US" sz="2800" spc="-89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);</a:t>
              </a:r>
            </a:p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  <a:r>
                <a:rPr lang="en-US" sz="2800" spc="-89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Ternäre Beziehung: Nutzer → Exemplar → Zeitraum</a:t>
              </a:r>
            </a:p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  <a:r>
                <a:rPr lang="en-US" sz="2800" spc="-89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Status-Constraints: offen, angenommen, abgelehnt, storniert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80975"/>
              <a:ext cx="16988563" cy="1740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499"/>
                </a:lnSpc>
              </a:pPr>
              <a:r>
                <a:rPr lang="en-US" sz="9499" b="1">
                  <a:solidFill>
                    <a:srgbClr val="140C0C"/>
                  </a:solidFill>
                  <a:latin typeface="Lato Bold"/>
                  <a:ea typeface="Lato Bold"/>
                  <a:cs typeface="Lato Bold"/>
                  <a:sym typeface="Lato Bold"/>
                </a:rPr>
                <a:t>AUSLEIHE_ANFRAGE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1266626" y="3777249"/>
            <a:ext cx="1367991" cy="2732501"/>
          </a:xfrm>
          <a:custGeom>
            <a:avLst/>
            <a:gdLst/>
            <a:ahLst/>
            <a:cxnLst/>
            <a:rect l="l" t="t" r="r" b="b"/>
            <a:pathLst>
              <a:path w="1367991" h="2732501">
                <a:moveTo>
                  <a:pt x="0" y="0"/>
                </a:moveTo>
                <a:lnTo>
                  <a:pt x="1367991" y="0"/>
                </a:lnTo>
                <a:lnTo>
                  <a:pt x="1367991" y="2732502"/>
                </a:lnTo>
                <a:lnTo>
                  <a:pt x="0" y="27325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TextBox 16"/>
          <p:cNvSpPr txBox="1"/>
          <p:nvPr/>
        </p:nvSpPr>
        <p:spPr>
          <a:xfrm>
            <a:off x="16021942" y="9063389"/>
            <a:ext cx="1237358" cy="670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43"/>
              </a:lnSpc>
            </a:pPr>
            <a:r>
              <a:rPr lang="en-US" sz="3959" b="1" spc="-126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633156"/>
            <a:ext cx="3904601" cy="257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98"/>
              </a:lnSpc>
            </a:pPr>
            <a:r>
              <a:rPr lang="en-US" sz="2019" b="1" spc="-64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BUCHTAUSCH-APP DATENBANK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 descr="Abstract Minimalist Lined Repeating Circle Shape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Freeform 6" descr="Abstract Minimalist Dots Shapes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Freeform 7" descr="Abstract Minimalist Dots Shapes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grpSp>
        <p:nvGrpSpPr>
          <p:cNvPr id="8" name="Group 8"/>
          <p:cNvGrpSpPr/>
          <p:nvPr/>
        </p:nvGrpSpPr>
        <p:grpSpPr>
          <a:xfrm>
            <a:off x="1028700" y="1206222"/>
            <a:ext cx="8115300" cy="7403520"/>
            <a:chOff x="0" y="0"/>
            <a:chExt cx="10820400" cy="9871361"/>
          </a:xfrm>
        </p:grpSpPr>
        <p:sp>
          <p:nvSpPr>
            <p:cNvPr id="9" name="TextBox 9"/>
            <p:cNvSpPr txBox="1"/>
            <p:nvPr/>
          </p:nvSpPr>
          <p:spPr>
            <a:xfrm>
              <a:off x="0" y="-9525"/>
              <a:ext cx="10820400" cy="3565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559"/>
                </a:lnSpc>
              </a:pPr>
              <a:r>
                <a:rPr lang="en-US" sz="8799" b="1">
                  <a:solidFill>
                    <a:srgbClr val="140C0C"/>
                  </a:solidFill>
                  <a:latin typeface="Lato Bold"/>
                  <a:ea typeface="Lato Bold"/>
                  <a:cs typeface="Lato Bold"/>
                  <a:sym typeface="Lato Bold"/>
                </a:rPr>
                <a:t>ENTITÄT BEWERTUNG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4212156"/>
              <a:ext cx="7970456" cy="56592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37"/>
                </a:lnSpc>
              </a:pPr>
              <a:r>
                <a:rPr lang="en-US" sz="1741" spc="-55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CREATE TABLE bewertung (</a:t>
              </a:r>
            </a:p>
            <a:p>
              <a:pPr marL="0" lvl="0" indent="0" algn="l">
                <a:lnSpc>
                  <a:spcPts val="2437"/>
                </a:lnSpc>
              </a:pPr>
              <a:r>
                <a:rPr lang="en-US" sz="1741" spc="-55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bewertung_id SERIAL PRIMARY KEY,</a:t>
              </a:r>
            </a:p>
            <a:p>
              <a:pPr marL="0" lvl="0" indent="0" algn="l">
                <a:lnSpc>
                  <a:spcPts val="2437"/>
                </a:lnSpc>
              </a:pPr>
              <a:r>
                <a:rPr lang="en-US" sz="1741" spc="-55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bewertende_id INT NOT NULL REFERENCES nutzer(nutzer_id),</a:t>
              </a:r>
            </a:p>
            <a:p>
              <a:pPr marL="0" lvl="0" indent="0" algn="l">
                <a:lnSpc>
                  <a:spcPts val="2437"/>
                </a:lnSpc>
              </a:pPr>
              <a:r>
                <a:rPr lang="en-US" sz="1741" spc="-55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bewertete_id INT REFERENCES nutzer(nutzer_id),</a:t>
              </a:r>
            </a:p>
            <a:p>
              <a:pPr marL="0" lvl="0" indent="0" algn="l">
                <a:lnSpc>
                  <a:spcPts val="2437"/>
                </a:lnSpc>
              </a:pPr>
              <a:r>
                <a:rPr lang="en-US" sz="1741" spc="-55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exemplar_id INT REFERENCES buch_exemplar(exemplar_id),</a:t>
              </a:r>
            </a:p>
            <a:p>
              <a:pPr marL="0" lvl="0" indent="0" algn="l">
                <a:lnSpc>
                  <a:spcPts val="2437"/>
                </a:lnSpc>
              </a:pPr>
              <a:r>
                <a:rPr lang="en-US" sz="1741" spc="-55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ausleihe_id INT REFERENCES ausleihe(ausleihe_id),</a:t>
              </a:r>
            </a:p>
            <a:p>
              <a:pPr marL="0" lvl="0" indent="0" algn="l">
                <a:lnSpc>
                  <a:spcPts val="2437"/>
                </a:lnSpc>
              </a:pPr>
              <a:r>
                <a:rPr lang="en-US" sz="1741" spc="-55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sterne INT NOT NULL CHECK (sterne BETWEEN 1 AND 5),</a:t>
              </a:r>
            </a:p>
            <a:p>
              <a:pPr marL="0" lvl="0" indent="0" algn="l">
                <a:lnSpc>
                  <a:spcPts val="2437"/>
                </a:lnSpc>
              </a:pPr>
              <a:r>
                <a:rPr lang="en-US" sz="1741" spc="-55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kommentar TEXT,</a:t>
              </a:r>
            </a:p>
            <a:p>
              <a:pPr marL="0" lvl="0" indent="0" algn="l">
                <a:lnSpc>
                  <a:spcPts val="2437"/>
                </a:lnSpc>
              </a:pPr>
              <a:r>
                <a:rPr lang="en-US" sz="1741" spc="-55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datum TIMESTAMP DEFAULT CURRENT_TIMESTAMP</a:t>
              </a:r>
            </a:p>
            <a:p>
              <a:pPr marL="0" lvl="0" indent="0" algn="l">
                <a:lnSpc>
                  <a:spcPts val="2437"/>
                </a:lnSpc>
              </a:pPr>
              <a:r>
                <a:rPr lang="en-US" sz="1741" spc="-55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);</a:t>
              </a:r>
            </a:p>
            <a:p>
              <a:pPr marL="0" lvl="0" indent="0" algn="l">
                <a:lnSpc>
                  <a:spcPts val="2437"/>
                </a:lnSpc>
              </a:pPr>
              <a:r>
                <a:rPr lang="en-US" sz="1741" spc="-55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Besonderheit: XOR-Bedingung – Bewertung entweder für Nutzer ODER Exemplar, nicht beides gleichzeitig. Sternebewertung 1-5 validiert.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13622690" y="5046860"/>
            <a:ext cx="5959277" cy="6069633"/>
          </a:xfrm>
          <a:custGeom>
            <a:avLst/>
            <a:gdLst/>
            <a:ahLst/>
            <a:cxnLst/>
            <a:rect l="l" t="t" r="r" b="b"/>
            <a:pathLst>
              <a:path w="5959277" h="6069633">
                <a:moveTo>
                  <a:pt x="0" y="0"/>
                </a:moveTo>
                <a:lnTo>
                  <a:pt x="5959277" y="0"/>
                </a:lnTo>
                <a:lnTo>
                  <a:pt x="5959277" y="6069633"/>
                </a:lnTo>
                <a:lnTo>
                  <a:pt x="0" y="60696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12"/>
          <p:cNvSpPr/>
          <p:nvPr/>
        </p:nvSpPr>
        <p:spPr>
          <a:xfrm>
            <a:off x="11946361" y="935947"/>
            <a:ext cx="2295642" cy="2162078"/>
          </a:xfrm>
          <a:custGeom>
            <a:avLst/>
            <a:gdLst/>
            <a:ahLst/>
            <a:cxnLst/>
            <a:rect l="l" t="t" r="r" b="b"/>
            <a:pathLst>
              <a:path w="2295642" h="2162078">
                <a:moveTo>
                  <a:pt x="0" y="0"/>
                </a:moveTo>
                <a:lnTo>
                  <a:pt x="2295643" y="0"/>
                </a:lnTo>
                <a:lnTo>
                  <a:pt x="2295643" y="2162078"/>
                </a:lnTo>
                <a:lnTo>
                  <a:pt x="0" y="21620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13"/>
          <p:cNvSpPr/>
          <p:nvPr/>
        </p:nvSpPr>
        <p:spPr>
          <a:xfrm>
            <a:off x="15175520" y="-214630"/>
            <a:ext cx="4167561" cy="6145197"/>
          </a:xfrm>
          <a:custGeom>
            <a:avLst/>
            <a:gdLst/>
            <a:ahLst/>
            <a:cxnLst/>
            <a:rect l="l" t="t" r="r" b="b"/>
            <a:pathLst>
              <a:path w="4167561" h="6145197">
                <a:moveTo>
                  <a:pt x="0" y="0"/>
                </a:moveTo>
                <a:lnTo>
                  <a:pt x="4167560" y="0"/>
                </a:lnTo>
                <a:lnTo>
                  <a:pt x="4167560" y="6145197"/>
                </a:lnTo>
                <a:lnTo>
                  <a:pt x="0" y="61451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14"/>
          <p:cNvSpPr/>
          <p:nvPr/>
        </p:nvSpPr>
        <p:spPr>
          <a:xfrm>
            <a:off x="13520813" y="5143500"/>
            <a:ext cx="1442381" cy="1311255"/>
          </a:xfrm>
          <a:custGeom>
            <a:avLst/>
            <a:gdLst/>
            <a:ahLst/>
            <a:cxnLst/>
            <a:rect l="l" t="t" r="r" b="b"/>
            <a:pathLst>
              <a:path w="1442381" h="1311255">
                <a:moveTo>
                  <a:pt x="0" y="0"/>
                </a:moveTo>
                <a:lnTo>
                  <a:pt x="1442381" y="0"/>
                </a:lnTo>
                <a:lnTo>
                  <a:pt x="1442381" y="1311255"/>
                </a:lnTo>
                <a:lnTo>
                  <a:pt x="0" y="13112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TextBox 15"/>
          <p:cNvSpPr txBox="1"/>
          <p:nvPr/>
        </p:nvSpPr>
        <p:spPr>
          <a:xfrm>
            <a:off x="16021942" y="9063389"/>
            <a:ext cx="1237358" cy="670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43"/>
              </a:lnSpc>
            </a:pPr>
            <a:r>
              <a:rPr lang="en-US" sz="3959" b="1" spc="-126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15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633156"/>
            <a:ext cx="3904601" cy="257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98"/>
              </a:lnSpc>
            </a:pPr>
            <a:r>
              <a:rPr lang="en-US" sz="2019" b="1" spc="-64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BUCHTAUSCH-APP DATENBANK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 descr="Abstract Minimalist Lined Repeating Circle Shape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9" descr="Abstract Minimalist Lined Repeating Circle Shape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10" descr="Abstract Minimalist Dots Shapes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11" descr="Abstract Minimalist Dots Shapes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TextBox 12"/>
          <p:cNvSpPr txBox="1"/>
          <p:nvPr/>
        </p:nvSpPr>
        <p:spPr>
          <a:xfrm>
            <a:off x="1671305" y="1416427"/>
            <a:ext cx="12775904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080"/>
              </a:lnSpc>
              <a:spcBef>
                <a:spcPct val="0"/>
              </a:spcBef>
            </a:pPr>
            <a:r>
              <a:rPr lang="en-US" sz="7200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ENTITÄT NACHRICHT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71305" y="3169183"/>
            <a:ext cx="12775904" cy="4587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spc="-76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CREATE TABLE nachricht (</a:t>
            </a:r>
          </a:p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spc="-76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nachricht_id SERIAL PRIMARY KEY,</a:t>
            </a:r>
          </a:p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spc="-76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sender_id INT NOT NULL REFERENCES nutzer(nutzer_id),</a:t>
            </a:r>
          </a:p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spc="-76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empfaenger_id INT NOT NULL REFERENCES nutzer(nutzer_id),</a:t>
            </a:r>
          </a:p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spc="-76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betreff VARCHAR(255),</a:t>
            </a:r>
          </a:p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spc="-76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inhalt TEXT NOT NULL,</a:t>
            </a:r>
          </a:p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spc="-76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zeitstempel TIMESTAMP DEFAULT CURRENT_TIMESTAMP,</a:t>
            </a:r>
          </a:p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spc="-76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gelesen BOOLEAN DEFAULT FALSE</a:t>
            </a:r>
          </a:p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spc="-76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);</a:t>
            </a:r>
          </a:p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spc="-76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Rolle: Ermöglicht die direkte Kommunikation zwischen Nutzern der Plattform für Absprachen zu Ausleihen und Übergaben.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6410739" y="8409739"/>
            <a:ext cx="1877261" cy="1877261"/>
            <a:chOff x="0" y="0"/>
            <a:chExt cx="2503014" cy="2503014"/>
          </a:xfrm>
        </p:grpSpPr>
        <p:grpSp>
          <p:nvGrpSpPr>
            <p:cNvPr id="15" name="Group 15"/>
            <p:cNvGrpSpPr/>
            <p:nvPr/>
          </p:nvGrpSpPr>
          <p:grpSpPr>
            <a:xfrm>
              <a:off x="1251507" y="1251507"/>
              <a:ext cx="1251507" cy="1251507"/>
              <a:chOff x="0" y="0"/>
              <a:chExt cx="1913890" cy="191389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7E695C"/>
              </a:solidFill>
            </p:spPr>
            <p:txBody>
              <a:bodyPr/>
              <a:lstStyle/>
              <a:p>
                <a:endParaRPr lang="de-DE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1251507" y="0"/>
              <a:ext cx="1251507" cy="1251507"/>
              <a:chOff x="0" y="0"/>
              <a:chExt cx="1913890" cy="191389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7E695C"/>
              </a:solidFill>
            </p:spPr>
            <p:txBody>
              <a:bodyPr/>
              <a:lstStyle/>
              <a:p>
                <a:endParaRPr lang="de-DE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0" y="1251507"/>
              <a:ext cx="1251507" cy="1251507"/>
              <a:chOff x="0" y="0"/>
              <a:chExt cx="1913890" cy="191389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7E695C"/>
              </a:solidFill>
            </p:spPr>
            <p:txBody>
              <a:bodyPr/>
              <a:lstStyle/>
              <a:p>
                <a:endParaRPr lang="de-DE"/>
              </a:p>
            </p:txBody>
          </p:sp>
        </p:grpSp>
      </p:grpSp>
      <p:sp>
        <p:nvSpPr>
          <p:cNvPr id="21" name="TextBox 21"/>
          <p:cNvSpPr txBox="1"/>
          <p:nvPr/>
        </p:nvSpPr>
        <p:spPr>
          <a:xfrm>
            <a:off x="16021942" y="9063389"/>
            <a:ext cx="1237358" cy="670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43"/>
              </a:lnSpc>
            </a:pPr>
            <a:r>
              <a:rPr lang="en-US" sz="3959" b="1" spc="-126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16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633156"/>
            <a:ext cx="3904601" cy="257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98"/>
              </a:lnSpc>
            </a:pPr>
            <a:r>
              <a:rPr lang="en-US" sz="2019" b="1" spc="-64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BUCHTAUSCH-APP DATENBANK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 descr="Abstract Minimalist Lined Repeating Circle Shape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9" descr="Abstract Minimalist Lined Repeating Circle Shape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10" descr="Abstract Minimalist Dots Shapes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11" descr="Abstract Minimalist Dots Shapes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TextBox 12"/>
          <p:cNvSpPr txBox="1"/>
          <p:nvPr/>
        </p:nvSpPr>
        <p:spPr>
          <a:xfrm>
            <a:off x="2157270" y="1581742"/>
            <a:ext cx="13738322" cy="214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37"/>
              </a:lnSpc>
            </a:pPr>
            <a:r>
              <a:rPr lang="en-US" sz="7031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BUCH_SUCHE (TERNÄRE BEZIEHUNG)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225263" y="4924425"/>
            <a:ext cx="9670328" cy="4210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11"/>
              </a:lnSpc>
              <a:spcBef>
                <a:spcPct val="0"/>
              </a:spcBef>
            </a:pPr>
            <a:r>
              <a:rPr lang="en-US" sz="1865" spc="-59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CREATE TABLE buch_suche (</a:t>
            </a:r>
          </a:p>
          <a:p>
            <a:pPr marL="0" lvl="0" indent="0" algn="l">
              <a:lnSpc>
                <a:spcPts val="2611"/>
              </a:lnSpc>
              <a:spcBef>
                <a:spcPct val="0"/>
              </a:spcBef>
            </a:pPr>
            <a:r>
              <a:rPr lang="en-US" sz="1865" spc="-59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suche_id SERIAL PRIMARY KEY,</a:t>
            </a:r>
          </a:p>
          <a:p>
            <a:pPr marL="0" lvl="0" indent="0" algn="l">
              <a:lnSpc>
                <a:spcPts val="2611"/>
              </a:lnSpc>
              <a:spcBef>
                <a:spcPct val="0"/>
              </a:spcBef>
            </a:pPr>
            <a:r>
              <a:rPr lang="en-US" sz="1865" spc="-59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nutzer_id INT REFERENCES nutzer(nutzer_id),</a:t>
            </a:r>
          </a:p>
          <a:p>
            <a:pPr marL="0" lvl="0" indent="0" algn="l">
              <a:lnSpc>
                <a:spcPts val="2611"/>
              </a:lnSpc>
              <a:spcBef>
                <a:spcPct val="0"/>
              </a:spcBef>
            </a:pPr>
            <a:r>
              <a:rPr lang="en-US" sz="1865" spc="-59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standort_id INT REFERENCES standort(standort_id),</a:t>
            </a:r>
          </a:p>
          <a:p>
            <a:pPr marL="0" lvl="0" indent="0" algn="l">
              <a:lnSpc>
                <a:spcPts val="2611"/>
              </a:lnSpc>
              <a:spcBef>
                <a:spcPct val="0"/>
              </a:spcBef>
            </a:pPr>
            <a:r>
              <a:rPr lang="en-US" sz="1865" spc="-59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genre_id INT REFERENCES genre(genre_id),</a:t>
            </a:r>
          </a:p>
          <a:p>
            <a:pPr marL="0" lvl="0" indent="0" algn="l">
              <a:lnSpc>
                <a:spcPts val="2611"/>
              </a:lnSpc>
              <a:spcBef>
                <a:spcPct val="0"/>
              </a:spcBef>
            </a:pPr>
            <a:r>
              <a:rPr lang="en-US" sz="1865" spc="-59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suchradius_km DECIMAL(5,2),</a:t>
            </a:r>
          </a:p>
          <a:p>
            <a:pPr marL="0" lvl="0" indent="0" algn="l">
              <a:lnSpc>
                <a:spcPts val="2611"/>
              </a:lnSpc>
              <a:spcBef>
                <a:spcPct val="0"/>
              </a:spcBef>
            </a:pPr>
            <a:r>
              <a:rPr lang="en-US" sz="1865" spc="-59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suchbegriff VARCHAR(255),</a:t>
            </a:r>
          </a:p>
          <a:p>
            <a:pPr marL="0" lvl="0" indent="0" algn="l">
              <a:lnSpc>
                <a:spcPts val="2611"/>
              </a:lnSpc>
              <a:spcBef>
                <a:spcPct val="0"/>
              </a:spcBef>
            </a:pPr>
            <a:r>
              <a:rPr lang="en-US" sz="1865" spc="-59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suchzeitpunkt TIMESTAMP DEFAULT NOW(),</a:t>
            </a:r>
          </a:p>
          <a:p>
            <a:pPr marL="0" lvl="0" indent="0" algn="l">
              <a:lnSpc>
                <a:spcPts val="2611"/>
              </a:lnSpc>
              <a:spcBef>
                <a:spcPct val="0"/>
              </a:spcBef>
            </a:pPr>
            <a:r>
              <a:rPr lang="en-US" sz="1865" spc="-59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ergebnis_anzahl INT DEFAULT 0</a:t>
            </a:r>
          </a:p>
          <a:p>
            <a:pPr marL="0" lvl="0" indent="0" algn="l">
              <a:lnSpc>
                <a:spcPts val="2611"/>
              </a:lnSpc>
              <a:spcBef>
                <a:spcPct val="0"/>
              </a:spcBef>
            </a:pPr>
            <a:r>
              <a:rPr lang="en-US" sz="1865" spc="-59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);</a:t>
            </a:r>
          </a:p>
          <a:p>
            <a:pPr marL="0" lvl="0" indent="0" algn="l">
              <a:lnSpc>
                <a:spcPts val="2611"/>
              </a:lnSpc>
              <a:spcBef>
                <a:spcPct val="0"/>
              </a:spcBef>
            </a:pPr>
            <a:r>
              <a:rPr lang="en-US" sz="1865" spc="-59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Ternäre Beziehung: Nutzer × Standort × Genre</a:t>
            </a:r>
          </a:p>
          <a:p>
            <a:pPr marL="0" lvl="0" indent="0" algn="l">
              <a:lnSpc>
                <a:spcPts val="2611"/>
              </a:lnSpc>
              <a:spcBef>
                <a:spcPct val="0"/>
              </a:spcBef>
            </a:pPr>
            <a:r>
              <a:rPr lang="en-US" sz="1865" spc="-59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Erfassung von Suchanfragen mit räumlicher Komponente</a:t>
            </a:r>
          </a:p>
          <a:p>
            <a:pPr marL="0" lvl="0" indent="0" algn="l">
              <a:lnSpc>
                <a:spcPts val="2611"/>
              </a:lnSpc>
              <a:spcBef>
                <a:spcPct val="0"/>
              </a:spcBef>
            </a:pPr>
            <a:r>
              <a:rPr lang="en-US" sz="1865" spc="-59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Rolle: Analyse von Suchverhalten und Nutzerinteressen</a:t>
            </a:r>
          </a:p>
        </p:txBody>
      </p:sp>
      <p:sp>
        <p:nvSpPr>
          <p:cNvPr id="14" name="Freeform 14"/>
          <p:cNvSpPr/>
          <p:nvPr/>
        </p:nvSpPr>
        <p:spPr>
          <a:xfrm flipH="1">
            <a:off x="1369229" y="4264949"/>
            <a:ext cx="2832592" cy="4993351"/>
          </a:xfrm>
          <a:custGeom>
            <a:avLst/>
            <a:gdLst/>
            <a:ahLst/>
            <a:cxnLst/>
            <a:rect l="l" t="t" r="r" b="b"/>
            <a:pathLst>
              <a:path w="2832592" h="4993351">
                <a:moveTo>
                  <a:pt x="2832592" y="0"/>
                </a:moveTo>
                <a:lnTo>
                  <a:pt x="0" y="0"/>
                </a:lnTo>
                <a:lnTo>
                  <a:pt x="0" y="4993351"/>
                </a:lnTo>
                <a:lnTo>
                  <a:pt x="2832592" y="4993351"/>
                </a:lnTo>
                <a:lnTo>
                  <a:pt x="283259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TextBox 15"/>
          <p:cNvSpPr txBox="1"/>
          <p:nvPr/>
        </p:nvSpPr>
        <p:spPr>
          <a:xfrm>
            <a:off x="16021942" y="9063389"/>
            <a:ext cx="1237358" cy="670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43"/>
              </a:lnSpc>
            </a:pPr>
            <a:r>
              <a:rPr lang="en-US" sz="3959" b="1" spc="-126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17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633156"/>
            <a:ext cx="3904601" cy="257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98"/>
              </a:lnSpc>
            </a:pPr>
            <a:r>
              <a:rPr lang="en-US" sz="2019" b="1" spc="-64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BUCHTAUSCH-APP DATENBANK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 descr="Abstract Minimalist Lined Repeating Circle Shape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Freeform 6" descr="Abstract Minimalist Dots Shapes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Freeform 7" descr="Abstract Minimalist Dots Shapes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grpSp>
        <p:nvGrpSpPr>
          <p:cNvPr id="8" name="Group 8"/>
          <p:cNvGrpSpPr/>
          <p:nvPr/>
        </p:nvGrpSpPr>
        <p:grpSpPr>
          <a:xfrm>
            <a:off x="7970324" y="1189047"/>
            <a:ext cx="9040494" cy="7908907"/>
            <a:chOff x="0" y="0"/>
            <a:chExt cx="12053992" cy="10545209"/>
          </a:xfrm>
        </p:grpSpPr>
        <p:sp>
          <p:nvSpPr>
            <p:cNvPr id="9" name="TextBox 9"/>
            <p:cNvSpPr txBox="1"/>
            <p:nvPr/>
          </p:nvSpPr>
          <p:spPr>
            <a:xfrm>
              <a:off x="0" y="2560257"/>
              <a:ext cx="10607073" cy="79849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25"/>
                </a:lnSpc>
              </a:pPr>
              <a:r>
                <a:rPr lang="en-US" sz="2635" spc="-84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SQL-Query zur Abfrage verfügbarer Bücher mit Standort Berlin:</a:t>
              </a:r>
            </a:p>
            <a:p>
              <a:pPr marL="0" lvl="0" indent="0" algn="l">
                <a:lnSpc>
                  <a:spcPts val="3425"/>
                </a:lnSpc>
              </a:pPr>
              <a:r>
                <a:rPr lang="en-US" sz="2635" spc="-84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SELECT b.titel, b.isbn, n.vorname || ' ' || n.nachname AS besitzer,</a:t>
              </a:r>
            </a:p>
            <a:p>
              <a:pPr marL="0" lvl="0" indent="0" algn="l">
                <a:lnSpc>
                  <a:spcPts val="3425"/>
                </a:lnSpc>
              </a:pPr>
              <a:r>
                <a:rPr lang="en-US" sz="2635" spc="-84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s.strasse, s.plz, s.stadt, be.zustand, be.max_leihdauer_tage</a:t>
              </a:r>
            </a:p>
            <a:p>
              <a:pPr marL="0" lvl="0" indent="0" algn="l">
                <a:lnSpc>
                  <a:spcPts val="3425"/>
                </a:lnSpc>
              </a:pPr>
              <a:r>
                <a:rPr lang="en-US" sz="2635" spc="-84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FROM buch_exemplar be</a:t>
              </a:r>
            </a:p>
            <a:p>
              <a:pPr marL="0" lvl="0" indent="0" algn="l">
                <a:lnSpc>
                  <a:spcPts val="3425"/>
                </a:lnSpc>
              </a:pPr>
              <a:r>
                <a:rPr lang="en-US" sz="2635" spc="-84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JOIN buch b ON be.buch_id = b.buch_id</a:t>
              </a:r>
            </a:p>
            <a:p>
              <a:pPr marL="0" lvl="0" indent="0" algn="l">
                <a:lnSpc>
                  <a:spcPts val="3425"/>
                </a:lnSpc>
              </a:pPr>
              <a:r>
                <a:rPr lang="en-US" sz="2635" spc="-84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JOIN nutzer n ON be.besitzer_id = n.nutzer_id</a:t>
              </a:r>
            </a:p>
            <a:p>
              <a:pPr marL="0" lvl="0" indent="0" algn="l">
                <a:lnSpc>
                  <a:spcPts val="3425"/>
                </a:lnSpc>
              </a:pPr>
              <a:r>
                <a:rPr lang="en-US" sz="2635" spc="-84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JOIN standort s ON be.standort_id = s.standort_id</a:t>
              </a:r>
            </a:p>
            <a:p>
              <a:pPr marL="0" lvl="0" indent="0" algn="l">
                <a:lnSpc>
                  <a:spcPts val="3425"/>
                </a:lnSpc>
              </a:pPr>
              <a:r>
                <a:rPr lang="en-US" sz="2635" spc="-84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WHERE be.status = 'verfuegbar' AND s.stadt = 'Berlin';</a:t>
              </a:r>
            </a:p>
            <a:p>
              <a:pPr marL="0" lvl="0" indent="0" algn="l">
                <a:lnSpc>
                  <a:spcPts val="3425"/>
                </a:lnSpc>
              </a:pPr>
              <a:r>
                <a:rPr lang="en-US" sz="2635" spc="-84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Erwartetes Ergebnis: Liste aller verfügbaren Exemplare in Berlin mit Besitzer- und Standortdaten.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053992" cy="17079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134"/>
                </a:lnSpc>
              </a:pPr>
              <a:r>
                <a:rPr lang="en-US" sz="3949" b="1">
                  <a:solidFill>
                    <a:srgbClr val="140C0C"/>
                  </a:solidFill>
                  <a:latin typeface="Lato Bold"/>
                  <a:ea typeface="Lato Bold"/>
                  <a:cs typeface="Lato Bold"/>
                  <a:sym typeface="Lato Bold"/>
                </a:rPr>
                <a:t>TESTFALL 1 – VERFÜGBARE BÜCHER IN BERLIN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1567077" y="1608026"/>
            <a:ext cx="5039658" cy="7070949"/>
          </a:xfrm>
          <a:custGeom>
            <a:avLst/>
            <a:gdLst/>
            <a:ahLst/>
            <a:cxnLst/>
            <a:rect l="l" t="t" r="r" b="b"/>
            <a:pathLst>
              <a:path w="5039658" h="7070949">
                <a:moveTo>
                  <a:pt x="0" y="0"/>
                </a:moveTo>
                <a:lnTo>
                  <a:pt x="5039658" y="0"/>
                </a:lnTo>
                <a:lnTo>
                  <a:pt x="5039658" y="7070948"/>
                </a:lnTo>
                <a:lnTo>
                  <a:pt x="0" y="7070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TextBox 12"/>
          <p:cNvSpPr txBox="1"/>
          <p:nvPr/>
        </p:nvSpPr>
        <p:spPr>
          <a:xfrm>
            <a:off x="16021942" y="9063389"/>
            <a:ext cx="1237358" cy="670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43"/>
              </a:lnSpc>
            </a:pPr>
            <a:r>
              <a:rPr lang="en-US" sz="3959" b="1" spc="-126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18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633156"/>
            <a:ext cx="3904601" cy="257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98"/>
              </a:lnSpc>
            </a:pPr>
            <a:r>
              <a:rPr lang="en-US" sz="2019" b="1" spc="-64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BUCHTAUSCH-APP DATENBANK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 descr="Abstract Minimalist Lined Repeating Circle Shape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Freeform 6" descr="Abstract Minimalist Dots Shapes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Freeform 7" descr="Abstract Minimalist Dots Shapes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grpSp>
        <p:nvGrpSpPr>
          <p:cNvPr id="8" name="Group 8"/>
          <p:cNvGrpSpPr/>
          <p:nvPr/>
        </p:nvGrpSpPr>
        <p:grpSpPr>
          <a:xfrm>
            <a:off x="7970324" y="1063668"/>
            <a:ext cx="9040494" cy="8159665"/>
            <a:chOff x="0" y="0"/>
            <a:chExt cx="12053992" cy="10879553"/>
          </a:xfrm>
        </p:grpSpPr>
        <p:sp>
          <p:nvSpPr>
            <p:cNvPr id="9" name="TextBox 9"/>
            <p:cNvSpPr txBox="1"/>
            <p:nvPr/>
          </p:nvSpPr>
          <p:spPr>
            <a:xfrm>
              <a:off x="0" y="2560257"/>
              <a:ext cx="10607073" cy="83192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07"/>
                </a:lnSpc>
              </a:pPr>
              <a:r>
                <a:rPr lang="en-US" sz="2390" spc="-76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SQL-Query zur Abfrage aktiver und abgeschlossener Ausleihen mit Statusanzeige:</a:t>
              </a:r>
            </a:p>
            <a:p>
              <a:pPr marL="0" lvl="0" indent="0" algn="l">
                <a:lnSpc>
                  <a:spcPts val="3107"/>
                </a:lnSpc>
              </a:pPr>
              <a:r>
                <a:rPr lang="en-US" sz="2390" spc="-76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SELECT a.ausleihe_id, b.titel, n.vorname || ' ' || n.nachname AS entleiher,</a:t>
              </a:r>
            </a:p>
            <a:p>
              <a:pPr marL="0" lvl="0" indent="0" algn="l">
                <a:lnSpc>
                  <a:spcPts val="3107"/>
                </a:lnSpc>
              </a:pPr>
              <a:r>
                <a:rPr lang="en-US" sz="2390" spc="-76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a.startdatum, a.enddatum, a.rueckgabedatum,</a:t>
              </a:r>
            </a:p>
            <a:p>
              <a:pPr marL="0" lvl="0" indent="0" algn="l">
                <a:lnSpc>
                  <a:spcPts val="3107"/>
                </a:lnSpc>
              </a:pPr>
              <a:r>
                <a:rPr lang="en-US" sz="2390" spc="-76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CASE WHEN a.rueckgabedatum IS NOT NULL THEN 'Zurückgegeben'</a:t>
              </a:r>
            </a:p>
            <a:p>
              <a:pPr marL="0" lvl="0" indent="0" algn="l">
                <a:lnSpc>
                  <a:spcPts val="3107"/>
                </a:lnSpc>
              </a:pPr>
              <a:r>
                <a:rPr lang="en-US" sz="2390" spc="-76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WHEN a.enddatum &lt; CURRENT_DATE THEN 'Überfällig'</a:t>
              </a:r>
            </a:p>
            <a:p>
              <a:pPr marL="0" lvl="0" indent="0" algn="l">
                <a:lnSpc>
                  <a:spcPts val="3107"/>
                </a:lnSpc>
              </a:pPr>
              <a:r>
                <a:rPr lang="en-US" sz="2390" spc="-76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ELSE 'Noch ausgeliehen' END AS status</a:t>
              </a:r>
            </a:p>
            <a:p>
              <a:pPr marL="0" lvl="0" indent="0" algn="l">
                <a:lnSpc>
                  <a:spcPts val="3107"/>
                </a:lnSpc>
              </a:pPr>
              <a:r>
                <a:rPr lang="en-US" sz="2390" spc="-76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FROM ausleihe a</a:t>
              </a:r>
            </a:p>
            <a:p>
              <a:pPr marL="0" lvl="0" indent="0" algn="l">
                <a:lnSpc>
                  <a:spcPts val="3107"/>
                </a:lnSpc>
              </a:pPr>
              <a:r>
                <a:rPr lang="en-US" sz="2390" spc="-76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JOIN buch_exemplar be ON a.exemplar_id = be.exemplar_id</a:t>
              </a:r>
            </a:p>
            <a:p>
              <a:pPr marL="0" lvl="0" indent="0" algn="l">
                <a:lnSpc>
                  <a:spcPts val="3107"/>
                </a:lnSpc>
              </a:pPr>
              <a:r>
                <a:rPr lang="en-US" sz="2390" spc="-76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JOIN buch b ON be.buch_id = b.buch_id</a:t>
              </a:r>
            </a:p>
            <a:p>
              <a:pPr marL="0" lvl="0" indent="0" algn="l">
                <a:lnSpc>
                  <a:spcPts val="3107"/>
                </a:lnSpc>
              </a:pPr>
              <a:r>
                <a:rPr lang="en-US" sz="2390" spc="-76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JOIN nutzer n ON a.entleiher_id = n.nutzer_id;</a:t>
              </a:r>
            </a:p>
            <a:p>
              <a:pPr marL="0" lvl="0" indent="0" algn="l">
                <a:lnSpc>
                  <a:spcPts val="3107"/>
                </a:lnSpc>
              </a:pPr>
              <a:r>
                <a:rPr lang="en-US" sz="2390" spc="-76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Erwartetes Ergebnis: Übersicht aller Ausleihen mit Datum und aktuellem Status.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053992" cy="17079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134"/>
                </a:lnSpc>
              </a:pPr>
              <a:r>
                <a:rPr lang="en-US" sz="3949" b="1">
                  <a:solidFill>
                    <a:srgbClr val="140C0C"/>
                  </a:solidFill>
                  <a:latin typeface="Lato Bold"/>
                  <a:ea typeface="Lato Bold"/>
                  <a:cs typeface="Lato Bold"/>
                  <a:sym typeface="Lato Bold"/>
                </a:rPr>
                <a:t>TESTFALL 2 – AKTIVE AUSLEIHEN MIT FÄLLIGKEIT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1567077" y="1608026"/>
            <a:ext cx="5039658" cy="7070949"/>
          </a:xfrm>
          <a:custGeom>
            <a:avLst/>
            <a:gdLst/>
            <a:ahLst/>
            <a:cxnLst/>
            <a:rect l="l" t="t" r="r" b="b"/>
            <a:pathLst>
              <a:path w="5039658" h="7070949">
                <a:moveTo>
                  <a:pt x="0" y="0"/>
                </a:moveTo>
                <a:lnTo>
                  <a:pt x="5039658" y="0"/>
                </a:lnTo>
                <a:lnTo>
                  <a:pt x="5039658" y="7070948"/>
                </a:lnTo>
                <a:lnTo>
                  <a:pt x="0" y="7070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TextBox 12"/>
          <p:cNvSpPr txBox="1"/>
          <p:nvPr/>
        </p:nvSpPr>
        <p:spPr>
          <a:xfrm>
            <a:off x="16021942" y="9063389"/>
            <a:ext cx="1237358" cy="670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43"/>
              </a:lnSpc>
            </a:pPr>
            <a:r>
              <a:rPr lang="en-US" sz="3959" b="1" spc="-126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19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633156"/>
            <a:ext cx="3904601" cy="257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98"/>
              </a:lnSpc>
            </a:pPr>
            <a:r>
              <a:rPr lang="en-US" sz="2019" b="1" spc="-64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BUCHTAUSCH-APP DATENBANK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 descr="Abstract Minimalist Lined Repeating Circle Shape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Freeform 6" descr="Abstract Minimalist Lined Repeating Circle Shape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Freeform 7" descr="Abstract Minimalist Dots Shapes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8" descr="Abstract Minimalist Dots Shapes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TextBox 9"/>
          <p:cNvSpPr txBox="1"/>
          <p:nvPr/>
        </p:nvSpPr>
        <p:spPr>
          <a:xfrm>
            <a:off x="1475435" y="1392113"/>
            <a:ext cx="9513798" cy="1666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56"/>
              </a:lnSpc>
            </a:pPr>
            <a:r>
              <a:rPr lang="en-US" sz="5463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TESTFALL 3 – TOP BEWERTETE BÜCHER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75435" y="3456792"/>
            <a:ext cx="9513798" cy="5478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571" spc="-82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SQL-Query zur Ermittlung der bestbewerteten Bücher: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571" spc="-82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SELECT b.titel, b.isbn, ROUND(AVG(bw.sterne), 2) AS durchschnitt, COUNT(bw.bewertung_id) AS anzahl_bewertungen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571" spc="-82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FROM buch b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571" spc="-82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JOIN buch_exemplar be ON b.buch_id = be.buch_id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571" spc="-82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JOIN bewertung bw ON be.exemplar_id = bw.exemplar_id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571" spc="-82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GROUP BY b.buch_id, b.titel, b.isbn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571" spc="-82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HAVING AVG(bw.sterne) &gt;= 4.0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571" spc="-82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ORDER BY durchschnitt DESC, anzahl_bewertungen DESC;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571" spc="-82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Erwartetes Ergebnis: Liste aller Bücher mit Durchschnittsbewertung ≥ 4,0 Sterne, sortiert nach Bewertung und Anzahl.</a:t>
            </a:r>
          </a:p>
        </p:txBody>
      </p:sp>
      <p:sp>
        <p:nvSpPr>
          <p:cNvPr id="11" name="Freeform 11"/>
          <p:cNvSpPr/>
          <p:nvPr/>
        </p:nvSpPr>
        <p:spPr>
          <a:xfrm>
            <a:off x="14058958" y="3616671"/>
            <a:ext cx="3200342" cy="5641629"/>
          </a:xfrm>
          <a:custGeom>
            <a:avLst/>
            <a:gdLst/>
            <a:ahLst/>
            <a:cxnLst/>
            <a:rect l="l" t="t" r="r" b="b"/>
            <a:pathLst>
              <a:path w="3200342" h="5641629">
                <a:moveTo>
                  <a:pt x="0" y="0"/>
                </a:moveTo>
                <a:lnTo>
                  <a:pt x="3200342" y="0"/>
                </a:lnTo>
                <a:lnTo>
                  <a:pt x="3200342" y="5641629"/>
                </a:lnTo>
                <a:lnTo>
                  <a:pt x="0" y="56416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TextBox 12"/>
          <p:cNvSpPr txBox="1"/>
          <p:nvPr/>
        </p:nvSpPr>
        <p:spPr>
          <a:xfrm>
            <a:off x="16021942" y="9063389"/>
            <a:ext cx="1237358" cy="670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43"/>
              </a:lnSpc>
            </a:pPr>
            <a:r>
              <a:rPr lang="en-US" sz="3959" b="1" spc="-126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633156"/>
            <a:ext cx="3904601" cy="257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98"/>
              </a:lnSpc>
            </a:pPr>
            <a:r>
              <a:rPr lang="en-US" sz="2019" b="1" spc="-64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BUCHTAUSCH-APP DATENBANK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 descr="Abstract Minimalist Lined Repeating Circle Shape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9" descr="Abstract Minimalist Lined Repeating Circle Shape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10" descr="Abstract Minimalist Dots Shapes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11" descr="Abstract Minimalist Dots Shapes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TextBox 12"/>
          <p:cNvSpPr txBox="1"/>
          <p:nvPr/>
        </p:nvSpPr>
        <p:spPr>
          <a:xfrm>
            <a:off x="2157270" y="1581742"/>
            <a:ext cx="13738322" cy="214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37"/>
              </a:lnSpc>
            </a:pPr>
            <a:r>
              <a:rPr lang="en-US" sz="7031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TESTFALL 4 – RÄUMLICHE SUCHE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225263" y="4914900"/>
            <a:ext cx="9670328" cy="4274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06"/>
              </a:lnSpc>
              <a:spcBef>
                <a:spcPct val="0"/>
              </a:spcBef>
            </a:pPr>
            <a:r>
              <a:rPr lang="en-US" sz="2718">
                <a:solidFill>
                  <a:srgbClr val="140C0C"/>
                </a:solidFill>
                <a:latin typeface="Open Sans 2"/>
                <a:ea typeface="Open Sans 2"/>
                <a:cs typeface="Open Sans 2"/>
                <a:sym typeface="Open Sans 2"/>
              </a:rPr>
              <a:t>SQL-Query: Suche nach verfügbaren Büchern im Umkreis von 10 km um München unter Verwendung der Haversine-Formel zur Entfernungsberechnung.</a:t>
            </a:r>
          </a:p>
          <a:p>
            <a:pPr marL="0" lvl="0" indent="0" algn="l">
              <a:lnSpc>
                <a:spcPts val="3806"/>
              </a:lnSpc>
              <a:spcBef>
                <a:spcPct val="0"/>
              </a:spcBef>
            </a:pPr>
            <a:r>
              <a:rPr lang="en-US" sz="2718">
                <a:solidFill>
                  <a:srgbClr val="140C0C"/>
                </a:solidFill>
                <a:latin typeface="Open Sans 2"/>
                <a:ea typeface="Open Sans 2"/>
                <a:cs typeface="Open Sans 2"/>
                <a:sym typeface="Open Sans 2"/>
              </a:rPr>
              <a:t>Erwartetes Ergebnis: Liste verfügbarer Exemplare mit Buchtitel, Standortbezeichnung, Stadt und berechneter Entfernung in Kilometern.</a:t>
            </a:r>
          </a:p>
          <a:p>
            <a:pPr marL="0" lvl="0" indent="0" algn="l">
              <a:lnSpc>
                <a:spcPts val="3806"/>
              </a:lnSpc>
              <a:spcBef>
                <a:spcPct val="0"/>
              </a:spcBef>
            </a:pPr>
            <a:r>
              <a:rPr lang="en-US" sz="2718">
                <a:solidFill>
                  <a:srgbClr val="140C0C"/>
                </a:solidFill>
                <a:latin typeface="Open Sans 2"/>
                <a:ea typeface="Open Sans 2"/>
                <a:cs typeface="Open Sans 2"/>
                <a:sym typeface="Open Sans 2"/>
              </a:rPr>
              <a:t>Besonderheiten: Nutzung von latitude/longitude aus der Standort-Tabelle, Filterung nach status = 'verfuegbar', Sortierung nach Entfernung aufsteigend.</a:t>
            </a:r>
          </a:p>
        </p:txBody>
      </p:sp>
      <p:sp>
        <p:nvSpPr>
          <p:cNvPr id="14" name="Freeform 14"/>
          <p:cNvSpPr/>
          <p:nvPr/>
        </p:nvSpPr>
        <p:spPr>
          <a:xfrm flipH="1">
            <a:off x="1369229" y="4264949"/>
            <a:ext cx="2832592" cy="4993351"/>
          </a:xfrm>
          <a:custGeom>
            <a:avLst/>
            <a:gdLst/>
            <a:ahLst/>
            <a:cxnLst/>
            <a:rect l="l" t="t" r="r" b="b"/>
            <a:pathLst>
              <a:path w="2832592" h="4993351">
                <a:moveTo>
                  <a:pt x="2832592" y="0"/>
                </a:moveTo>
                <a:lnTo>
                  <a:pt x="0" y="0"/>
                </a:lnTo>
                <a:lnTo>
                  <a:pt x="0" y="4993351"/>
                </a:lnTo>
                <a:lnTo>
                  <a:pt x="2832592" y="4993351"/>
                </a:lnTo>
                <a:lnTo>
                  <a:pt x="283259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TextBox 15"/>
          <p:cNvSpPr txBox="1"/>
          <p:nvPr/>
        </p:nvSpPr>
        <p:spPr>
          <a:xfrm>
            <a:off x="16021942" y="9063389"/>
            <a:ext cx="1237358" cy="670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43"/>
              </a:lnSpc>
            </a:pPr>
            <a:r>
              <a:rPr lang="en-US" sz="3959" spc="-126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21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633156"/>
            <a:ext cx="3904601" cy="257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98"/>
              </a:lnSpc>
            </a:pPr>
            <a:r>
              <a:rPr lang="en-US" sz="2019" spc="-64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BUCHTAUSCH-APP DATENBANK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bstract Minimalist Lined Repeating Circle Shape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 descr="Abstract Minimalist Dots Shapes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 descr="Abstract Minimalist Dots Shapes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grpSp>
        <p:nvGrpSpPr>
          <p:cNvPr id="5" name="Group 5"/>
          <p:cNvGrpSpPr/>
          <p:nvPr/>
        </p:nvGrpSpPr>
        <p:grpSpPr>
          <a:xfrm>
            <a:off x="1028700" y="1710058"/>
            <a:ext cx="8115300" cy="6395848"/>
            <a:chOff x="0" y="0"/>
            <a:chExt cx="10820400" cy="8527798"/>
          </a:xfrm>
        </p:grpSpPr>
        <p:sp>
          <p:nvSpPr>
            <p:cNvPr id="6" name="TextBox 6"/>
            <p:cNvSpPr txBox="1"/>
            <p:nvPr/>
          </p:nvSpPr>
          <p:spPr>
            <a:xfrm>
              <a:off x="0" y="-9525"/>
              <a:ext cx="10820400" cy="2397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109"/>
                </a:lnSpc>
              </a:pPr>
              <a:r>
                <a:rPr lang="en-US" sz="5925" b="1">
                  <a:solidFill>
                    <a:srgbClr val="140C0C"/>
                  </a:solidFill>
                  <a:latin typeface="Lato Bold"/>
                  <a:ea typeface="Lato Bold"/>
                  <a:cs typeface="Lato Bold"/>
                  <a:sym typeface="Lato Bold"/>
                </a:rPr>
                <a:t>TESTFALL 5 – NUTZER-STATISTIKEN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034231"/>
              <a:ext cx="7970456" cy="54935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328"/>
                </a:lnSpc>
              </a:pPr>
              <a:r>
                <a:rPr lang="en-US" sz="1663" spc="-53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SQL-Query: Aggregierte Daten pro Nutzer mit Anzahl Bücher, Ausleihen, Bewertungen und Durchschnittsbewertung.</a:t>
              </a:r>
            </a:p>
            <a:p>
              <a:pPr marL="0" lvl="0" indent="0" algn="l">
                <a:lnSpc>
                  <a:spcPts val="2328"/>
                </a:lnSpc>
              </a:pPr>
              <a:r>
                <a:rPr lang="en-US" sz="1663" spc="-53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SELECT n.nutzer_id, n.vorname, n.nachname,</a:t>
              </a:r>
            </a:p>
            <a:p>
              <a:pPr marL="0" lvl="0" indent="0" algn="l">
                <a:lnSpc>
                  <a:spcPts val="2328"/>
                </a:lnSpc>
              </a:pPr>
              <a:r>
                <a:rPr lang="en-US" sz="1663" spc="-53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COUNT(DISTINCT be.exemplar_id) AS anzahl_buecher,</a:t>
              </a:r>
            </a:p>
            <a:p>
              <a:pPr marL="0" lvl="0" indent="0" algn="l">
                <a:lnSpc>
                  <a:spcPts val="2328"/>
                </a:lnSpc>
              </a:pPr>
              <a:r>
                <a:rPr lang="en-US" sz="1663" spc="-53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COUNT(DISTINCT a.ausleihe_id) AS anzahl_ausleihen,</a:t>
              </a:r>
            </a:p>
            <a:p>
              <a:pPr marL="0" lvl="0" indent="0" algn="l">
                <a:lnSpc>
                  <a:spcPts val="2328"/>
                </a:lnSpc>
              </a:pPr>
              <a:r>
                <a:rPr lang="en-US" sz="1663" spc="-53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COUNT(DISTINCT b.bewertung_id) AS anzahl_bewertungen,</a:t>
              </a:r>
            </a:p>
            <a:p>
              <a:pPr marL="0" lvl="0" indent="0" algn="l">
                <a:lnSpc>
                  <a:spcPts val="2328"/>
                </a:lnSpc>
              </a:pPr>
              <a:r>
                <a:rPr lang="en-US" sz="1663" spc="-53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ROUND(AVG(b.sterne), 2) AS durchschnitt_sterne</a:t>
              </a:r>
            </a:p>
            <a:p>
              <a:pPr marL="0" lvl="0" indent="0" algn="l">
                <a:lnSpc>
                  <a:spcPts val="2328"/>
                </a:lnSpc>
              </a:pPr>
              <a:r>
                <a:rPr lang="en-US" sz="1663" spc="-53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FROM nutzer n</a:t>
              </a:r>
            </a:p>
            <a:p>
              <a:pPr marL="0" lvl="0" indent="0" algn="l">
                <a:lnSpc>
                  <a:spcPts val="2328"/>
                </a:lnSpc>
              </a:pPr>
              <a:r>
                <a:rPr lang="en-US" sz="1663" spc="-53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LEFT JOIN buch_exemplar be ON n.nutzer_id = be.besitzer_id</a:t>
              </a:r>
            </a:p>
            <a:p>
              <a:pPr marL="0" lvl="0" indent="0" algn="l">
                <a:lnSpc>
                  <a:spcPts val="2328"/>
                </a:lnSpc>
              </a:pPr>
              <a:r>
                <a:rPr lang="en-US" sz="1663" spc="-53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LEFT JOIN ausleihe a ON n.nutzer_id = a.entleiher_id</a:t>
              </a:r>
            </a:p>
            <a:p>
              <a:pPr marL="0" lvl="0" indent="0" algn="l">
                <a:lnSpc>
                  <a:spcPts val="2328"/>
                </a:lnSpc>
              </a:pPr>
              <a:r>
                <a:rPr lang="en-US" sz="1663" spc="-53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LEFT JOIN bewertung b ON n.nutzer_id = b.bewertete_id</a:t>
              </a:r>
            </a:p>
            <a:p>
              <a:pPr marL="0" lvl="0" indent="0" algn="l">
                <a:lnSpc>
                  <a:spcPts val="2328"/>
                </a:lnSpc>
              </a:pPr>
              <a:r>
                <a:rPr lang="en-US" sz="1663" spc="-53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GROUP BY n.nutzer_id;</a:t>
              </a:r>
            </a:p>
            <a:p>
              <a:pPr marL="0" lvl="0" indent="0" algn="l">
                <a:lnSpc>
                  <a:spcPts val="2328"/>
                </a:lnSpc>
              </a:pPr>
              <a:r>
                <a:rPr lang="en-US" sz="1663" spc="-53">
                  <a:solidFill>
                    <a:srgbClr val="140C0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Erwartetes Ergebnis: Übersicht der Nutzeraktivitäten mit allen relevanten Kennzahlen.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13622690" y="5046860"/>
            <a:ext cx="5959277" cy="6069633"/>
          </a:xfrm>
          <a:custGeom>
            <a:avLst/>
            <a:gdLst/>
            <a:ahLst/>
            <a:cxnLst/>
            <a:rect l="l" t="t" r="r" b="b"/>
            <a:pathLst>
              <a:path w="5959277" h="6069633">
                <a:moveTo>
                  <a:pt x="0" y="0"/>
                </a:moveTo>
                <a:lnTo>
                  <a:pt x="5959277" y="0"/>
                </a:lnTo>
                <a:lnTo>
                  <a:pt x="5959277" y="6069633"/>
                </a:lnTo>
                <a:lnTo>
                  <a:pt x="0" y="60696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9"/>
          <p:cNvSpPr/>
          <p:nvPr/>
        </p:nvSpPr>
        <p:spPr>
          <a:xfrm>
            <a:off x="11946361" y="935947"/>
            <a:ext cx="2295642" cy="2162078"/>
          </a:xfrm>
          <a:custGeom>
            <a:avLst/>
            <a:gdLst/>
            <a:ahLst/>
            <a:cxnLst/>
            <a:rect l="l" t="t" r="r" b="b"/>
            <a:pathLst>
              <a:path w="2295642" h="2162078">
                <a:moveTo>
                  <a:pt x="0" y="0"/>
                </a:moveTo>
                <a:lnTo>
                  <a:pt x="2295643" y="0"/>
                </a:lnTo>
                <a:lnTo>
                  <a:pt x="2295643" y="2162078"/>
                </a:lnTo>
                <a:lnTo>
                  <a:pt x="0" y="21620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10"/>
          <p:cNvSpPr/>
          <p:nvPr/>
        </p:nvSpPr>
        <p:spPr>
          <a:xfrm>
            <a:off x="15175520" y="-214630"/>
            <a:ext cx="4167561" cy="6145197"/>
          </a:xfrm>
          <a:custGeom>
            <a:avLst/>
            <a:gdLst/>
            <a:ahLst/>
            <a:cxnLst/>
            <a:rect l="l" t="t" r="r" b="b"/>
            <a:pathLst>
              <a:path w="4167561" h="6145197">
                <a:moveTo>
                  <a:pt x="0" y="0"/>
                </a:moveTo>
                <a:lnTo>
                  <a:pt x="4167560" y="0"/>
                </a:lnTo>
                <a:lnTo>
                  <a:pt x="4167560" y="6145197"/>
                </a:lnTo>
                <a:lnTo>
                  <a:pt x="0" y="61451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11"/>
          <p:cNvSpPr/>
          <p:nvPr/>
        </p:nvSpPr>
        <p:spPr>
          <a:xfrm>
            <a:off x="13520813" y="5143500"/>
            <a:ext cx="1442381" cy="1311255"/>
          </a:xfrm>
          <a:custGeom>
            <a:avLst/>
            <a:gdLst/>
            <a:ahLst/>
            <a:cxnLst/>
            <a:rect l="l" t="t" r="r" b="b"/>
            <a:pathLst>
              <a:path w="1442381" h="1311255">
                <a:moveTo>
                  <a:pt x="0" y="0"/>
                </a:moveTo>
                <a:lnTo>
                  <a:pt x="1442381" y="0"/>
                </a:lnTo>
                <a:lnTo>
                  <a:pt x="1442381" y="1311255"/>
                </a:lnTo>
                <a:lnTo>
                  <a:pt x="0" y="13112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TextBox 12"/>
          <p:cNvSpPr txBox="1"/>
          <p:nvPr/>
        </p:nvSpPr>
        <p:spPr>
          <a:xfrm>
            <a:off x="16021942" y="9063389"/>
            <a:ext cx="1237358" cy="670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43"/>
              </a:lnSpc>
            </a:pPr>
            <a:r>
              <a:rPr lang="en-US" sz="3959" b="1" spc="-126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633156"/>
            <a:ext cx="3904601" cy="257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98"/>
              </a:lnSpc>
            </a:pPr>
            <a:r>
              <a:rPr lang="en-US" sz="2019" b="1" spc="-64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BUCHTAUSCH-APP DATENBANK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 descr="Abstract Minimalist Lined Repeating Circle Shape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9" descr="Abstract Minimalist Lined Repeating Circle Shape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10" descr="Abstract Minimalist Dots Shapes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11" descr="Abstract Minimalist Dots Shapes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AutoShape 12"/>
          <p:cNvSpPr/>
          <p:nvPr/>
        </p:nvSpPr>
        <p:spPr>
          <a:xfrm>
            <a:off x="1416050" y="4329113"/>
            <a:ext cx="7340600" cy="3816350"/>
          </a:xfrm>
          <a:prstGeom prst="rect">
            <a:avLst/>
          </a:prstGeom>
          <a:solidFill>
            <a:srgbClr val="EBE2DB"/>
          </a:solidFill>
        </p:spPr>
        <p:txBody>
          <a:bodyPr/>
          <a:lstStyle/>
          <a:p>
            <a:endParaRPr lang="de-DE"/>
          </a:p>
        </p:txBody>
      </p:sp>
      <p:sp>
        <p:nvSpPr>
          <p:cNvPr id="13" name="TextBox 13"/>
          <p:cNvSpPr txBox="1"/>
          <p:nvPr/>
        </p:nvSpPr>
        <p:spPr>
          <a:xfrm>
            <a:off x="2189550" y="5157978"/>
            <a:ext cx="5793600" cy="2110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21"/>
              </a:lnSpc>
            </a:pPr>
            <a:r>
              <a:rPr lang="en-US" sz="2015" spc="-64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 12 Tabellen strikt in 3. Normalform implementiert</a:t>
            </a:r>
          </a:p>
          <a:p>
            <a:pPr marL="0" lvl="0" indent="0" algn="ctr">
              <a:lnSpc>
                <a:spcPts val="2821"/>
              </a:lnSpc>
            </a:pPr>
            <a:r>
              <a:rPr lang="en-US" sz="2015" spc="-64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 3 komplexe ternäre Beziehungen erfolgreich modelliert</a:t>
            </a:r>
          </a:p>
          <a:p>
            <a:pPr marL="0" lvl="0" indent="0" algn="ctr">
              <a:lnSpc>
                <a:spcPts val="2821"/>
              </a:lnSpc>
            </a:pPr>
            <a:r>
              <a:rPr lang="en-US" sz="2015" spc="-64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 Umfassende Validierung der Datenintegrität durch Constraints</a:t>
            </a:r>
          </a:p>
          <a:p>
            <a:pPr marL="0" lvl="0" indent="0" algn="ctr">
              <a:lnSpc>
                <a:spcPts val="2821"/>
              </a:lnSpc>
            </a:pPr>
            <a:r>
              <a:rPr lang="en-US" sz="2015" spc="-64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 CHECK-Constraints für Wertebereichsprüfungen</a:t>
            </a:r>
          </a:p>
        </p:txBody>
      </p:sp>
      <p:sp>
        <p:nvSpPr>
          <p:cNvPr id="14" name="AutoShape 14"/>
          <p:cNvSpPr/>
          <p:nvPr/>
        </p:nvSpPr>
        <p:spPr>
          <a:xfrm>
            <a:off x="9531350" y="4329113"/>
            <a:ext cx="7340600" cy="3816350"/>
          </a:xfrm>
          <a:prstGeom prst="rect">
            <a:avLst/>
          </a:prstGeom>
          <a:solidFill>
            <a:srgbClr val="EBE2DB"/>
          </a:solidFill>
        </p:spPr>
        <p:txBody>
          <a:bodyPr/>
          <a:lstStyle/>
          <a:p>
            <a:endParaRPr lang="de-DE"/>
          </a:p>
        </p:txBody>
      </p:sp>
      <p:sp>
        <p:nvSpPr>
          <p:cNvPr id="15" name="TextBox 15"/>
          <p:cNvSpPr txBox="1"/>
          <p:nvPr/>
        </p:nvSpPr>
        <p:spPr>
          <a:xfrm>
            <a:off x="10304850" y="5334395"/>
            <a:ext cx="5793600" cy="1758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43"/>
              </a:lnSpc>
            </a:pPr>
            <a:r>
              <a:rPr lang="en-US" sz="2031" spc="-64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 Integration räumlicher Suchfunktion mit Koordinaten</a:t>
            </a:r>
          </a:p>
          <a:p>
            <a:pPr marL="0" lvl="0" indent="0" algn="ctr">
              <a:lnSpc>
                <a:spcPts val="2843"/>
              </a:lnSpc>
            </a:pPr>
            <a:r>
              <a:rPr lang="en-US" sz="2031" spc="-64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 Bewertungssystem für Nutzer und Exemplare</a:t>
            </a:r>
          </a:p>
          <a:p>
            <a:pPr marL="0" lvl="0" indent="0" algn="ctr">
              <a:lnSpc>
                <a:spcPts val="2843"/>
              </a:lnSpc>
            </a:pPr>
            <a:r>
              <a:rPr lang="en-US" sz="2031" spc="-64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 Testfälle demonstrieren Funktionalität</a:t>
            </a:r>
          </a:p>
          <a:p>
            <a:pPr marL="0" lvl="0" indent="0" algn="ctr">
              <a:lnSpc>
                <a:spcPts val="2843"/>
              </a:lnSpc>
            </a:pPr>
            <a:r>
              <a:rPr lang="en-US" sz="2031" spc="-64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 Hohe Datenqualität durch referentielle Integrität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58642" y="2208458"/>
            <a:ext cx="14170716" cy="1024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19"/>
              </a:lnSpc>
            </a:pPr>
            <a:r>
              <a:rPr lang="en-US" sz="7199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ZUSAMMENFASSUNG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021942" y="9063389"/>
            <a:ext cx="1237358" cy="670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43"/>
              </a:lnSpc>
            </a:pPr>
            <a:r>
              <a:rPr lang="en-US" sz="3959" b="1" spc="-126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633156"/>
            <a:ext cx="3904601" cy="257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98"/>
              </a:lnSpc>
            </a:pPr>
            <a:r>
              <a:rPr lang="en-US" sz="2019" b="1" spc="-64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BUCHTAUSCH-APP DATENBANK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 descr="Abstract Minimalist Lined Repeating Circle Shape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9" descr="Abstract Minimalist Lined Repeating Circle Shape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10" descr="Abstract Minimalist Dots Shapes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11" descr="Abstract Minimalist Dots Shapes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grpSp>
        <p:nvGrpSpPr>
          <p:cNvPr id="12" name="Group 12"/>
          <p:cNvGrpSpPr/>
          <p:nvPr/>
        </p:nvGrpSpPr>
        <p:grpSpPr>
          <a:xfrm>
            <a:off x="3396193" y="2141187"/>
            <a:ext cx="12741423" cy="6004626"/>
            <a:chOff x="0" y="0"/>
            <a:chExt cx="16988563" cy="8006168"/>
          </a:xfrm>
        </p:grpSpPr>
        <p:sp>
          <p:nvSpPr>
            <p:cNvPr id="13" name="TextBox 13"/>
            <p:cNvSpPr txBox="1"/>
            <p:nvPr/>
          </p:nvSpPr>
          <p:spPr>
            <a:xfrm>
              <a:off x="0" y="2760646"/>
              <a:ext cx="16988563" cy="52455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140C0C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Aufbau eines GitHub-Repositories mit vollständiger Dokumentation und Versionierung aller Datenbankskripte und Testfälle</a:t>
              </a:r>
            </a:p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140C0C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Erstellung eines zusammenfassenden PDFs mit detaillierter Performance-Analyse der implementierten Abfragen</a:t>
              </a:r>
            </a:p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140C0C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Implementierung erweiterter Features: Benachrichtigungssystem, erweiterte Suchfunktionen und Skalierbarkeitsoptimierungen</a:t>
              </a:r>
            </a:p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140C0C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Bereitstellung eines ZIP-Archivs mit allen relevanten Dateien für die finale Abgabe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80975"/>
              <a:ext cx="16988563" cy="1740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499"/>
                </a:lnSpc>
              </a:pPr>
              <a:r>
                <a:rPr lang="en-US" sz="9499" b="1">
                  <a:solidFill>
                    <a:srgbClr val="140C0C"/>
                  </a:solidFill>
                  <a:latin typeface="Lato Bold"/>
                  <a:ea typeface="Lato Bold"/>
                  <a:cs typeface="Lato Bold"/>
                  <a:sym typeface="Lato Bold"/>
                </a:rPr>
                <a:t>AUSBLICK PHASE 3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1266626" y="3777249"/>
            <a:ext cx="1367991" cy="2732501"/>
          </a:xfrm>
          <a:custGeom>
            <a:avLst/>
            <a:gdLst/>
            <a:ahLst/>
            <a:cxnLst/>
            <a:rect l="l" t="t" r="r" b="b"/>
            <a:pathLst>
              <a:path w="1367991" h="2732501">
                <a:moveTo>
                  <a:pt x="0" y="0"/>
                </a:moveTo>
                <a:lnTo>
                  <a:pt x="1367991" y="0"/>
                </a:lnTo>
                <a:lnTo>
                  <a:pt x="1367991" y="2732502"/>
                </a:lnTo>
                <a:lnTo>
                  <a:pt x="0" y="27325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TextBox 16"/>
          <p:cNvSpPr txBox="1"/>
          <p:nvPr/>
        </p:nvSpPr>
        <p:spPr>
          <a:xfrm>
            <a:off x="16021942" y="9063389"/>
            <a:ext cx="1237358" cy="670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43"/>
              </a:lnSpc>
            </a:pPr>
            <a:r>
              <a:rPr lang="en-US" sz="3959" spc="-126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24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633156"/>
            <a:ext cx="3904601" cy="257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98"/>
              </a:lnSpc>
            </a:pPr>
            <a:r>
              <a:rPr lang="en-US" sz="2019" spc="-64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BUCHTAUSCH-APP DATENBANK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 descr="Abstract Minimalist Lined Repeating Circle Shape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9" descr="Abstract Minimalist Lined Repeating Circle Shape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10" descr="Abstract Minimalist Dots Shapes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11" descr="Abstract Minimalist Dots Shapes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grpSp>
        <p:nvGrpSpPr>
          <p:cNvPr id="12" name="Group 12"/>
          <p:cNvGrpSpPr/>
          <p:nvPr/>
        </p:nvGrpSpPr>
        <p:grpSpPr>
          <a:xfrm>
            <a:off x="1028700" y="3138854"/>
            <a:ext cx="16230600" cy="4009292"/>
            <a:chOff x="0" y="0"/>
            <a:chExt cx="3774616" cy="93240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774617" cy="932408"/>
            </a:xfrm>
            <a:custGeom>
              <a:avLst/>
              <a:gdLst/>
              <a:ahLst/>
              <a:cxnLst/>
              <a:rect l="l" t="t" r="r" b="b"/>
              <a:pathLst>
                <a:path w="3774617" h="932408">
                  <a:moveTo>
                    <a:pt x="0" y="0"/>
                  </a:moveTo>
                  <a:lnTo>
                    <a:pt x="3774617" y="0"/>
                  </a:lnTo>
                  <a:lnTo>
                    <a:pt x="3774617" y="932408"/>
                  </a:lnTo>
                  <a:lnTo>
                    <a:pt x="0" y="932408"/>
                  </a:lnTo>
                  <a:close/>
                </a:path>
              </a:pathLst>
            </a:custGeom>
            <a:solidFill>
              <a:srgbClr val="EBE2DB"/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14" name="Freeform 14"/>
          <p:cNvSpPr/>
          <p:nvPr/>
        </p:nvSpPr>
        <p:spPr>
          <a:xfrm rot="4695204">
            <a:off x="1175350" y="3349924"/>
            <a:ext cx="4443920" cy="7596444"/>
          </a:xfrm>
          <a:custGeom>
            <a:avLst/>
            <a:gdLst/>
            <a:ahLst/>
            <a:cxnLst/>
            <a:rect l="l" t="t" r="r" b="b"/>
            <a:pathLst>
              <a:path w="4443920" h="7596444">
                <a:moveTo>
                  <a:pt x="0" y="0"/>
                </a:moveTo>
                <a:lnTo>
                  <a:pt x="4443919" y="0"/>
                </a:lnTo>
                <a:lnTo>
                  <a:pt x="4443919" y="7596444"/>
                </a:lnTo>
                <a:lnTo>
                  <a:pt x="0" y="75964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grpSp>
        <p:nvGrpSpPr>
          <p:cNvPr id="15" name="Group 15"/>
          <p:cNvGrpSpPr/>
          <p:nvPr/>
        </p:nvGrpSpPr>
        <p:grpSpPr>
          <a:xfrm>
            <a:off x="5029200" y="4546710"/>
            <a:ext cx="8229600" cy="1376923"/>
            <a:chOff x="0" y="0"/>
            <a:chExt cx="10972800" cy="1835897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66675"/>
              <a:ext cx="10972800" cy="7844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977"/>
                </a:lnSpc>
                <a:spcBef>
                  <a:spcPct val="0"/>
                </a:spcBef>
              </a:pPr>
              <a:r>
                <a:rPr lang="en-US" sz="3554" b="1" u="none">
                  <a:solidFill>
                    <a:srgbClr val="140C0C"/>
                  </a:solidFill>
                  <a:latin typeface="Lato Bold"/>
                  <a:ea typeface="Lato Bold"/>
                  <a:cs typeface="Lato Bold"/>
                  <a:sym typeface="Lato Bold"/>
                </a:rPr>
                <a:t>VIELEN DANK!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808226"/>
              <a:ext cx="10972800" cy="10276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85"/>
                </a:lnSpc>
              </a:pPr>
              <a:r>
                <a:rPr lang="en-US" sz="2227">
                  <a:solidFill>
                    <a:srgbClr val="140C0C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Haben Sie Fragen? Kontaktdaten und GitHub-Link folgen in Phase 3.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6021942" y="9034814"/>
            <a:ext cx="1237358" cy="879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55"/>
              </a:lnSpc>
            </a:pPr>
            <a:r>
              <a:rPr lang="en-US" sz="511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25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638544"/>
            <a:ext cx="3904601" cy="246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62"/>
              </a:lnSpc>
            </a:pPr>
            <a:r>
              <a:rPr lang="en-US" sz="198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BUCHTAUSCH-APP DATENBANK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2195</Words>
  <Application>Microsoft Office PowerPoint</Application>
  <PresentationFormat>Benutzerdefiniert</PresentationFormat>
  <Paragraphs>303</Paragraphs>
  <Slides>25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25</vt:i4>
      </vt:variant>
    </vt:vector>
  </HeadingPairs>
  <TitlesOfParts>
    <vt:vector size="33" baseType="lpstr">
      <vt:lpstr>Open Sans 2</vt:lpstr>
      <vt:lpstr>Canva Sans</vt:lpstr>
      <vt:lpstr>Open Sans 1</vt:lpstr>
      <vt:lpstr>Arial</vt:lpstr>
      <vt:lpstr>Canva Sans Bold</vt:lpstr>
      <vt:lpstr>Lato Bold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Buchtausch-App Datenbank
</dc:title>
  <cp:lastModifiedBy>Firas Alshamam</cp:lastModifiedBy>
  <cp:revision>2</cp:revision>
  <dcterms:created xsi:type="dcterms:W3CDTF">2006-08-16T00:00:00Z</dcterms:created>
  <dcterms:modified xsi:type="dcterms:W3CDTF">2026-03-31T20:44:54Z</dcterms:modified>
  <dc:identifier>DAHFjLOdVF0</dc:identifier>
</cp:coreProperties>
</file>